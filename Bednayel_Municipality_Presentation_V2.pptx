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9" d="100"/>
          <a:sy n="49" d="100"/>
        </p:scale>
        <p:origin x="1312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051560"/>
            <a:ext cx="9997135" cy="4892040"/>
          </a:xfrm>
          <a:prstGeom prst="roundRect">
            <a:avLst/>
          </a:prstGeom>
          <a:solidFill>
            <a:srgbClr val="163554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50753" y="205740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600" b="1">
                <a:solidFill>
                  <a:srgbClr val="D4A017"/>
                </a:solidFill>
                <a:latin typeface="Arial"/>
              </a:defRPr>
            </a:pPr>
            <a:r>
              <a:rPr dirty="0" err="1"/>
              <a:t>الجمهورية</a:t>
            </a:r>
            <a:r>
              <a:rPr dirty="0"/>
              <a:t> </a:t>
            </a:r>
            <a:r>
              <a:rPr dirty="0" err="1"/>
              <a:t>اللبنانية</a:t>
            </a:r>
            <a:r>
              <a:rPr dirty="0"/>
              <a:t> — </a:t>
            </a:r>
            <a:r>
              <a:rPr dirty="0" err="1"/>
              <a:t>محافظة</a:t>
            </a:r>
            <a:r>
              <a:rPr dirty="0"/>
              <a:t> </a:t>
            </a:r>
            <a:r>
              <a:rPr dirty="0" err="1"/>
              <a:t>بعلبك</a:t>
            </a:r>
            <a:r>
              <a:rPr dirty="0"/>
              <a:t> </a:t>
            </a:r>
            <a:r>
              <a:rPr dirty="0" err="1"/>
              <a:t>الهرمل</a:t>
            </a:r>
            <a:endParaRPr dirty="0"/>
          </a:p>
          <a:p>
            <a:pPr algn="ctr" rtl="1">
              <a:defRPr sz="35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بوابة</a:t>
            </a:r>
            <a:r>
              <a:rPr dirty="0"/>
              <a:t> </a:t>
            </a:r>
            <a:r>
              <a:rPr dirty="0" err="1"/>
              <a:t>بلدية</a:t>
            </a:r>
            <a:r>
              <a:rPr dirty="0"/>
              <a:t> </a:t>
            </a:r>
            <a:r>
              <a:rPr dirty="0" err="1"/>
              <a:t>بدنايل</a:t>
            </a:r>
            <a:r>
              <a:rPr dirty="0"/>
              <a:t> </a:t>
            </a:r>
            <a:r>
              <a:rPr dirty="0" err="1"/>
              <a:t>الرقمية</a:t>
            </a:r>
            <a:r>
              <a:rPr dirty="0"/>
              <a:t> </a:t>
            </a:r>
            <a:r>
              <a:rPr dirty="0" err="1"/>
              <a:t>المتكاملة</a:t>
            </a:r>
            <a:endParaRPr dirty="0"/>
          </a:p>
          <a:p>
            <a:pPr algn="ctr" rtl="1">
              <a:defRPr sz="1600" b="0">
                <a:solidFill>
                  <a:srgbClr val="CBD5E1"/>
                </a:solidFill>
                <a:latin typeface="Arial"/>
              </a:defRPr>
            </a:pPr>
            <a:r>
              <a:rPr dirty="0" err="1"/>
              <a:t>دراسة</a:t>
            </a:r>
            <a:r>
              <a:rPr dirty="0"/>
              <a:t> </a:t>
            </a:r>
            <a:r>
              <a:rPr dirty="0" err="1"/>
              <a:t>شاملة</a:t>
            </a:r>
            <a:r>
              <a:rPr dirty="0"/>
              <a:t> </a:t>
            </a:r>
            <a:r>
              <a:rPr dirty="0" err="1"/>
              <a:t>للمنصة</a:t>
            </a:r>
            <a:r>
              <a:rPr dirty="0"/>
              <a:t>، </a:t>
            </a:r>
            <a:r>
              <a:rPr dirty="0" err="1"/>
              <a:t>الأثر</a:t>
            </a:r>
            <a:r>
              <a:rPr dirty="0"/>
              <a:t> </a:t>
            </a:r>
            <a:r>
              <a:rPr dirty="0" err="1"/>
              <a:t>التنموي</a:t>
            </a:r>
            <a:r>
              <a:rPr dirty="0"/>
              <a:t>، </a:t>
            </a:r>
            <a:r>
              <a:rPr dirty="0" err="1"/>
              <a:t>الاستضافة</a:t>
            </a:r>
            <a:r>
              <a:rPr dirty="0"/>
              <a:t> </a:t>
            </a:r>
            <a:r>
              <a:rPr dirty="0" err="1"/>
              <a:t>السحابية</a:t>
            </a:r>
            <a:r>
              <a:rPr dirty="0"/>
              <a:t>، </a:t>
            </a:r>
            <a:r>
              <a:rPr dirty="0" err="1"/>
              <a:t>اشتراك</a:t>
            </a:r>
            <a:r>
              <a:rPr dirty="0"/>
              <a:t> Twilio </a:t>
            </a:r>
            <a:r>
              <a:rPr dirty="0" err="1"/>
              <a:t>للرسائل</a:t>
            </a:r>
            <a:r>
              <a:rPr dirty="0"/>
              <a:t>، </a:t>
            </a:r>
            <a:r>
              <a:rPr dirty="0" err="1"/>
              <a:t>والنطاقات</a:t>
            </a:r>
            <a:r>
              <a:rPr dirty="0"/>
              <a:t> </a:t>
            </a:r>
            <a:r>
              <a:rPr dirty="0" err="1"/>
              <a:t>الرسمية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417320" y="4297680"/>
            <a:ext cx="2240280" cy="594360"/>
          </a:xfrm>
          <a:prstGeom prst="roundRect">
            <a:avLst/>
          </a:prstGeom>
          <a:solidFill>
            <a:srgbClr val="1E4469"/>
          </a:solidFill>
          <a:ln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100" b="1">
                <a:solidFill>
                  <a:srgbClr val="FFFFFF"/>
                </a:solidFill>
                <a:latin typeface="Arial"/>
              </a:defRPr>
            </a:pPr>
            <a:r>
              <a:t>🏛️ خدمات إلكترونية ومواعيد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2192" y="4297680"/>
            <a:ext cx="2240280" cy="594360"/>
          </a:xfrm>
          <a:prstGeom prst="roundRect">
            <a:avLst/>
          </a:prstGeom>
          <a:solidFill>
            <a:srgbClr val="1E4469"/>
          </a:solidFill>
          <a:ln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100" b="1">
                <a:solidFill>
                  <a:srgbClr val="FFFFFF"/>
                </a:solidFill>
                <a:latin typeface="Arial"/>
              </a:defRPr>
            </a:pPr>
            <a:r>
              <a:t>📋 متابعة الشكاوى الميدانية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4297680"/>
            <a:ext cx="2240280" cy="594360"/>
          </a:xfrm>
          <a:prstGeom prst="roundRect">
            <a:avLst/>
          </a:prstGeom>
          <a:solidFill>
            <a:srgbClr val="1E4469"/>
          </a:solidFill>
          <a:ln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100" b="1">
                <a:solidFill>
                  <a:srgbClr val="FFFFFF"/>
                </a:solidFill>
                <a:latin typeface="Arial"/>
              </a:defRPr>
            </a:pPr>
            <a:r>
              <a:t>📲 خدمة Twilio للتحقق SMS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31936" y="4297680"/>
            <a:ext cx="2240280" cy="594360"/>
          </a:xfrm>
          <a:prstGeom prst="roundRect">
            <a:avLst/>
          </a:prstGeom>
          <a:solidFill>
            <a:srgbClr val="1E4469"/>
          </a:solidFill>
          <a:ln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100" b="1">
                <a:solidFill>
                  <a:srgbClr val="FFFFFF"/>
                </a:solidFill>
                <a:latin typeface="Arial"/>
              </a:defRPr>
            </a:pPr>
            <a:r>
              <a:t>🌐 نطاق حكومي .gov.lb وتجاري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66360"/>
            <a:ext cx="9448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250" b="0">
                <a:solidFill>
                  <a:srgbClr val="94A3B8"/>
                </a:solidFill>
                <a:latin typeface="Arial"/>
              </a:defRPr>
            </a:pPr>
            <a:r>
              <a:t>عرض رسمي موجّه لرئيس وأعضاء المجلس البلدي ولأهالي بلدة بدنايل الكرام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1">
                <a:solidFill>
                  <a:srgbClr val="1E6F50"/>
                </a:solidFill>
                <a:latin typeface="Arial"/>
              </a:defRPr>
            </a:pPr>
            <a:r>
              <a:t>بلدية بدنايل | بوابة التحول الرقمي والحكومة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400" b="1">
                <a:solidFill>
                  <a:srgbClr val="0F2942"/>
                </a:solidFill>
                <a:latin typeface="Arial"/>
              </a:defRPr>
            </a:pPr>
            <a:r>
              <a:t>الرؤية والأهداف الاستراتيجية للتحول الرقمي في بدنايل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000" b="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2 من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146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2514600" cy="109728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350" b="1">
                <a:solidFill>
                  <a:srgbClr val="FFFFFF"/>
                </a:solidFill>
                <a:latin typeface="Arial"/>
              </a:defRPr>
            </a:pPr>
            <a:r>
              <a:t>🚀  التحول نحو الإدارة الذكية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2608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50" b="0">
                <a:solidFill>
                  <a:srgbClr val="1E293B"/>
                </a:solidFill>
                <a:latin typeface="Arial"/>
              </a:defRPr>
            </a:pPr>
            <a:r>
              <a:t>الانتقال ببلدية بدنايل من الإدارة الورقية الروتينية إلى بيئة رقمية متطورة ومؤتمتة تعمل على مدار الساعة لخدمة المواطن بأعلى معايير السرعة والكفاءة.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645920"/>
            <a:ext cx="25146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65576" y="1645920"/>
            <a:ext cx="2514600" cy="109728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350" b="1">
                <a:solidFill>
                  <a:srgbClr val="FFFFFF"/>
                </a:solidFill>
                <a:latin typeface="Arial"/>
              </a:defRPr>
            </a:pPr>
            <a:r>
              <a:t>🤝  الشفافية والمساءلة المجتمعية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92608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50" b="0">
                <a:solidFill>
                  <a:srgbClr val="1E293B"/>
                </a:solidFill>
                <a:latin typeface="Arial"/>
              </a:defRPr>
            </a:pPr>
            <a:r>
              <a:t>تعزيز الثقة المتبادلة بين المجلس البلدي والمواطنين عبر إتاحة تتبع الشكاوى مباشرة، ونشر التعاميم والقرارات الرسمية فور صدورها دون وسيط.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645920"/>
            <a:ext cx="25146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645920"/>
            <a:ext cx="2514600" cy="109728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350" b="1">
                <a:solidFill>
                  <a:srgbClr val="FFFFFF"/>
                </a:solidFill>
                <a:latin typeface="Arial"/>
              </a:defRPr>
            </a:pPr>
            <a:r>
              <a:t>🌍  ربط المغتربين ببلدتهم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92608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50" b="0">
                <a:solidFill>
                  <a:srgbClr val="1E293B"/>
                </a:solidFill>
                <a:latin typeface="Arial"/>
              </a:defRPr>
            </a:pPr>
            <a:r>
              <a:t>تمكين أبناء بدنايل في دول الاغتراب من متابعة شؤون بلدتهم، ومعاملاتهم العقارية والإدارية، والمشاركة في المشاريع التنموية بضغطة زر أينما كانوا.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645920"/>
            <a:ext cx="25146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33688" y="1645920"/>
            <a:ext cx="2514600" cy="109728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350" b="1">
                <a:solidFill>
                  <a:srgbClr val="FFFFFF"/>
                </a:solidFill>
                <a:latin typeface="Arial"/>
              </a:defRPr>
            </a:pPr>
            <a:r>
              <a:t>⏱️  توفير الجهد والمال والموارد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92608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50" b="0">
                <a:solidFill>
                  <a:srgbClr val="1E293B"/>
                </a:solidFill>
                <a:latin typeface="Arial"/>
              </a:defRPr>
            </a:pPr>
            <a:r>
              <a:t>إنهاء طوابير الانتظار، تخفيف الضغط اليومي عن موظفي البلدية، وخفض الهدر المالي في استهلاك الأوراق والأحبار وتكاليف الانتقال الشخصي.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1">
                <a:solidFill>
                  <a:srgbClr val="1E6F50"/>
                </a:solidFill>
                <a:latin typeface="Arial"/>
              </a:defRPr>
            </a:pPr>
            <a:r>
              <a:t>بلدية بدنايل | بوابة التحول الرقمي والحكومة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400" b="1">
                <a:solidFill>
                  <a:srgbClr val="0F2942"/>
                </a:solidFill>
                <a:latin typeface="Arial"/>
              </a:defRPr>
            </a:pPr>
            <a:r>
              <a:t>أقسام المنصة الرقمية ووظائفها الأساسية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000" b="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3 من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3429000" cy="438912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defRPr sz="1150" b="1">
                <a:solidFill>
                  <a:srgbClr val="FFFFFF"/>
                </a:solidFill>
                <a:latin typeface="Arial"/>
              </a:defRPr>
            </a:pPr>
            <a:r>
              <a:t>1. بوابة المواطن والحسابات الشخصية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48840"/>
            <a:ext cx="32095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lang="ar-SA" sz="1400" dirty="0"/>
              <a:t>• إنشاء حساب بالاسم ورقم الهاتف مع نظام تحقق متطور.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lang="ar-SA" sz="1400" dirty="0"/>
              <a:t>• لوحة تحكم خاصة لكل مواطن تظهر طلباته ومواعيده وشكاويه.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lang="ar-SA" sz="1400" dirty="0"/>
              <a:t>• استعادة وتعيين كلمة المرور بأمان مع تشفير تام للبيانات.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645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9976" y="1645920"/>
            <a:ext cx="3429000" cy="438912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defRPr sz="1150" b="1">
                <a:solidFill>
                  <a:srgbClr val="FFFFFF"/>
                </a:solidFill>
                <a:latin typeface="Arial"/>
              </a:defRPr>
            </a:pPr>
            <a:r>
              <a:t>2. المعاملات والخدمات البلدية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148840"/>
            <a:ext cx="32095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sz="1400" dirty="0" err="1"/>
              <a:t>حجز</a:t>
            </a:r>
            <a:r>
              <a:rPr sz="1400" dirty="0"/>
              <a:t> </a:t>
            </a:r>
            <a:r>
              <a:rPr sz="1400" dirty="0" err="1"/>
              <a:t>المواعيد</a:t>
            </a:r>
            <a:r>
              <a:rPr sz="1400" dirty="0"/>
              <a:t> </a:t>
            </a:r>
            <a:r>
              <a:rPr sz="1400" dirty="0" err="1"/>
              <a:t>الرسمية</a:t>
            </a:r>
            <a:r>
              <a:rPr sz="1400" dirty="0"/>
              <a:t> </a:t>
            </a:r>
            <a:r>
              <a:rPr sz="1400" dirty="0" err="1"/>
              <a:t>مسبقاً</a:t>
            </a:r>
            <a:r>
              <a:rPr sz="1400" dirty="0"/>
              <a:t> (</a:t>
            </a:r>
            <a:r>
              <a:rPr sz="1400" dirty="0" err="1"/>
              <a:t>استفسارات</a:t>
            </a:r>
            <a:r>
              <a:rPr sz="1400" dirty="0"/>
              <a:t>، </a:t>
            </a:r>
            <a:r>
              <a:rPr sz="1400" dirty="0" err="1"/>
              <a:t>رخص</a:t>
            </a:r>
            <a:r>
              <a:rPr sz="1400" dirty="0"/>
              <a:t> </a:t>
            </a:r>
            <a:r>
              <a:rPr sz="1400" dirty="0" err="1"/>
              <a:t>بناء</a:t>
            </a:r>
            <a:r>
              <a:rPr sz="1400" dirty="0"/>
              <a:t>، </a:t>
            </a:r>
            <a:r>
              <a:rPr sz="1400" dirty="0" err="1"/>
              <a:t>معاملات</a:t>
            </a:r>
            <a:r>
              <a:rPr sz="1400" dirty="0"/>
              <a:t>).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طلب</a:t>
            </a:r>
            <a:r>
              <a:rPr sz="1400" dirty="0"/>
              <a:t> </a:t>
            </a:r>
            <a:r>
              <a:rPr sz="1400" dirty="0" err="1"/>
              <a:t>المعاملات</a:t>
            </a:r>
            <a:r>
              <a:rPr sz="1400" dirty="0"/>
              <a:t> </a:t>
            </a:r>
            <a:r>
              <a:rPr sz="1400" dirty="0" err="1"/>
              <a:t>والإفادات</a:t>
            </a:r>
            <a:r>
              <a:rPr sz="1400" dirty="0"/>
              <a:t> (</a:t>
            </a:r>
            <a:r>
              <a:rPr sz="1400" dirty="0" err="1"/>
              <a:t>شهادات</a:t>
            </a:r>
            <a:r>
              <a:rPr sz="1400" dirty="0"/>
              <a:t> </a:t>
            </a:r>
            <a:r>
              <a:rPr sz="1400" dirty="0" err="1"/>
              <a:t>سكن</a:t>
            </a:r>
            <a:r>
              <a:rPr sz="1400" dirty="0"/>
              <a:t>، </a:t>
            </a:r>
            <a:r>
              <a:rPr sz="1400" dirty="0" err="1"/>
              <a:t>إفادات</a:t>
            </a:r>
            <a:r>
              <a:rPr sz="1400" dirty="0"/>
              <a:t> </a:t>
            </a:r>
            <a:r>
              <a:rPr sz="1400" dirty="0" err="1"/>
              <a:t>عقارية</a:t>
            </a:r>
            <a:r>
              <a:rPr sz="1400" dirty="0"/>
              <a:t> </a:t>
            </a:r>
            <a:r>
              <a:rPr sz="1400" dirty="0" err="1"/>
              <a:t>وإدارية</a:t>
            </a:r>
            <a:r>
              <a:rPr sz="1400" dirty="0"/>
              <a:t>).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إرفاق</a:t>
            </a:r>
            <a:r>
              <a:rPr sz="1400" dirty="0"/>
              <a:t> </a:t>
            </a:r>
            <a:r>
              <a:rPr sz="1400" dirty="0" err="1"/>
              <a:t>المستندات</a:t>
            </a:r>
            <a:r>
              <a:rPr sz="1400" dirty="0"/>
              <a:t> </a:t>
            </a:r>
            <a:r>
              <a:rPr sz="1400" dirty="0" err="1"/>
              <a:t>والصور</a:t>
            </a:r>
            <a:r>
              <a:rPr sz="1400" dirty="0"/>
              <a:t> </a:t>
            </a:r>
            <a:r>
              <a:rPr sz="1400" dirty="0" err="1"/>
              <a:t>رقمياً</a:t>
            </a:r>
            <a:r>
              <a:rPr sz="1400" dirty="0"/>
              <a:t> </a:t>
            </a:r>
            <a:r>
              <a:rPr sz="1400" dirty="0" err="1"/>
              <a:t>لتقليل</a:t>
            </a:r>
            <a:r>
              <a:rPr sz="1400" dirty="0"/>
              <a:t> </a:t>
            </a:r>
            <a:r>
              <a:rPr sz="1400" dirty="0" err="1"/>
              <a:t>المراجعات</a:t>
            </a:r>
            <a:r>
              <a:rPr sz="1400" dirty="0"/>
              <a:t> </a:t>
            </a:r>
            <a:r>
              <a:rPr sz="1400" dirty="0" err="1"/>
              <a:t>الميدانية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45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8432" y="1645920"/>
            <a:ext cx="3429000" cy="438912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defRPr sz="1150" b="1">
                <a:solidFill>
                  <a:srgbClr val="FFFFFF"/>
                </a:solidFill>
                <a:latin typeface="Arial"/>
              </a:defRPr>
            </a:pPr>
            <a:r>
              <a:t>3. نظام الشكاوى والمتابعة التفاعلي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48840"/>
            <a:ext cx="32095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sz="1400" dirty="0" err="1"/>
              <a:t>تقديم</a:t>
            </a:r>
            <a:r>
              <a:rPr sz="1400" dirty="0"/>
              <a:t> </a:t>
            </a:r>
            <a:r>
              <a:rPr sz="1400" dirty="0" err="1"/>
              <a:t>شكوى</a:t>
            </a:r>
            <a:r>
              <a:rPr sz="1400" dirty="0"/>
              <a:t> </a:t>
            </a:r>
            <a:r>
              <a:rPr sz="1400" dirty="0" err="1"/>
              <a:t>فورية</a:t>
            </a:r>
            <a:r>
              <a:rPr sz="1400" dirty="0"/>
              <a:t> </a:t>
            </a:r>
            <a:r>
              <a:rPr sz="1400" dirty="0" err="1"/>
              <a:t>وتصنيفها</a:t>
            </a:r>
            <a:r>
              <a:rPr sz="1400" dirty="0"/>
              <a:t> (</a:t>
            </a:r>
            <a:r>
              <a:rPr sz="1400" dirty="0" err="1"/>
              <a:t>إنارة</a:t>
            </a:r>
            <a:r>
              <a:rPr sz="1400" dirty="0"/>
              <a:t>، </a:t>
            </a:r>
            <a:r>
              <a:rPr sz="1400" dirty="0" err="1"/>
              <a:t>نفايات</a:t>
            </a:r>
            <a:r>
              <a:rPr sz="1400" dirty="0"/>
              <a:t>، </a:t>
            </a:r>
            <a:r>
              <a:rPr sz="1400" dirty="0" err="1"/>
              <a:t>طرقات</a:t>
            </a:r>
            <a:r>
              <a:rPr sz="1400" dirty="0"/>
              <a:t>، </a:t>
            </a:r>
            <a:r>
              <a:rPr sz="1400" dirty="0" err="1"/>
              <a:t>مياه</a:t>
            </a:r>
            <a:r>
              <a:rPr sz="1400" dirty="0"/>
              <a:t>).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تحديد</a:t>
            </a:r>
            <a:r>
              <a:rPr sz="1400" dirty="0"/>
              <a:t> </a:t>
            </a:r>
            <a:r>
              <a:rPr sz="1400" dirty="0" err="1"/>
              <a:t>الموقع</a:t>
            </a:r>
            <a:r>
              <a:rPr sz="1400" dirty="0"/>
              <a:t> </a:t>
            </a:r>
            <a:r>
              <a:rPr sz="1400" dirty="0" err="1"/>
              <a:t>وإرفاق</a:t>
            </a:r>
            <a:r>
              <a:rPr sz="1400" dirty="0"/>
              <a:t> </a:t>
            </a:r>
            <a:r>
              <a:rPr sz="1400" dirty="0" err="1"/>
              <a:t>صور</a:t>
            </a:r>
            <a:r>
              <a:rPr sz="1400" dirty="0"/>
              <a:t> </a:t>
            </a:r>
            <a:r>
              <a:rPr sz="1400" dirty="0" err="1"/>
              <a:t>حية</a:t>
            </a:r>
            <a:r>
              <a:rPr sz="1400" dirty="0"/>
              <a:t> </a:t>
            </a:r>
            <a:r>
              <a:rPr sz="1400" dirty="0" err="1"/>
              <a:t>لتوجيه</a:t>
            </a:r>
            <a:r>
              <a:rPr sz="1400" dirty="0"/>
              <a:t> </a:t>
            </a:r>
            <a:r>
              <a:rPr sz="1400" dirty="0" err="1"/>
              <a:t>ورش</a:t>
            </a:r>
            <a:r>
              <a:rPr sz="1400" dirty="0"/>
              <a:t> </a:t>
            </a:r>
            <a:r>
              <a:rPr sz="1400" dirty="0" err="1"/>
              <a:t>الصيانة</a:t>
            </a:r>
            <a:r>
              <a:rPr sz="1400" dirty="0"/>
              <a:t> </a:t>
            </a:r>
            <a:r>
              <a:rPr sz="1400" dirty="0" err="1"/>
              <a:t>مباشرة</a:t>
            </a:r>
            <a:r>
              <a:rPr sz="1400" dirty="0"/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إشعار</a:t>
            </a:r>
            <a:r>
              <a:rPr sz="1400" dirty="0"/>
              <a:t> </a:t>
            </a:r>
            <a:r>
              <a:rPr sz="1400" dirty="0" err="1"/>
              <a:t>المواطن</a:t>
            </a:r>
            <a:r>
              <a:rPr sz="1400" dirty="0"/>
              <a:t> </a:t>
            </a:r>
            <a:r>
              <a:rPr sz="1400" dirty="0" err="1"/>
              <a:t>بتطور</a:t>
            </a:r>
            <a:r>
              <a:rPr sz="1400" dirty="0"/>
              <a:t> </a:t>
            </a:r>
            <a:r>
              <a:rPr sz="1400" dirty="0" err="1"/>
              <a:t>مراحل</a:t>
            </a:r>
            <a:r>
              <a:rPr sz="1400" dirty="0"/>
              <a:t> </a:t>
            </a:r>
            <a:r>
              <a:rPr sz="1400" dirty="0" err="1"/>
              <a:t>معالجة</a:t>
            </a:r>
            <a:r>
              <a:rPr sz="1400" dirty="0"/>
              <a:t> </a:t>
            </a:r>
            <a:r>
              <a:rPr sz="1400" dirty="0" err="1"/>
              <a:t>الشكوى</a:t>
            </a:r>
            <a:r>
              <a:rPr sz="1400" dirty="0"/>
              <a:t> </a:t>
            </a:r>
            <a:r>
              <a:rPr sz="1400" dirty="0" err="1"/>
              <a:t>حتى</a:t>
            </a:r>
            <a:r>
              <a:rPr sz="1400" dirty="0"/>
              <a:t> </a:t>
            </a:r>
            <a:r>
              <a:rPr sz="1400" dirty="0" err="1"/>
              <a:t>إتمامها</a:t>
            </a:r>
            <a:r>
              <a:rPr sz="1400"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3429000" cy="438912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defRPr sz="1150" b="1">
                <a:solidFill>
                  <a:srgbClr val="FFFFFF"/>
                </a:solidFill>
                <a:latin typeface="Arial"/>
              </a:defRPr>
            </a:pPr>
            <a:r>
              <a:t>4. المركز الإعلامي والدليل المحلي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34840"/>
            <a:ext cx="32095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نشر</a:t>
            </a:r>
            <a:r>
              <a:rPr sz="1400" dirty="0"/>
              <a:t> </a:t>
            </a:r>
            <a:r>
              <a:rPr sz="1400" dirty="0" err="1"/>
              <a:t>الأخبار</a:t>
            </a:r>
            <a:r>
              <a:rPr sz="1400" dirty="0"/>
              <a:t> </a:t>
            </a:r>
            <a:r>
              <a:rPr sz="1400" dirty="0" err="1"/>
              <a:t>الرسمية</a:t>
            </a:r>
            <a:r>
              <a:rPr sz="1400" dirty="0"/>
              <a:t> </a:t>
            </a:r>
            <a:r>
              <a:rPr sz="1400" dirty="0" err="1"/>
              <a:t>وقرارات</a:t>
            </a:r>
            <a:r>
              <a:rPr sz="1400" dirty="0"/>
              <a:t> </a:t>
            </a:r>
            <a:r>
              <a:rPr sz="1400" dirty="0" err="1"/>
              <a:t>المجلس</a:t>
            </a:r>
            <a:r>
              <a:rPr sz="1400" dirty="0"/>
              <a:t> </a:t>
            </a:r>
            <a:r>
              <a:rPr sz="1400" dirty="0" err="1"/>
              <a:t>البلدي</a:t>
            </a:r>
            <a:r>
              <a:rPr sz="1400" dirty="0"/>
              <a:t> </a:t>
            </a:r>
            <a:r>
              <a:rPr sz="1400" dirty="0" err="1"/>
              <a:t>والتعاميم</a:t>
            </a:r>
            <a:r>
              <a:rPr sz="1400" dirty="0"/>
              <a:t> </a:t>
            </a:r>
            <a:r>
              <a:rPr sz="1400" dirty="0" err="1"/>
              <a:t>الفورية</a:t>
            </a:r>
            <a:r>
              <a:rPr sz="1400" dirty="0"/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دليل</a:t>
            </a:r>
            <a:r>
              <a:rPr sz="1400" dirty="0"/>
              <a:t> </a:t>
            </a:r>
            <a:r>
              <a:rPr sz="1400" dirty="0" err="1"/>
              <a:t>شامل</a:t>
            </a:r>
            <a:r>
              <a:rPr sz="1400" dirty="0"/>
              <a:t> </a:t>
            </a:r>
            <a:r>
              <a:rPr sz="1400" dirty="0" err="1"/>
              <a:t>لأماكن</a:t>
            </a:r>
            <a:r>
              <a:rPr sz="1400" dirty="0"/>
              <a:t> </a:t>
            </a:r>
            <a:r>
              <a:rPr sz="1400" dirty="0" err="1"/>
              <a:t>وخدمات</a:t>
            </a:r>
            <a:r>
              <a:rPr sz="1400" dirty="0"/>
              <a:t> </a:t>
            </a:r>
            <a:r>
              <a:rPr sz="1400" dirty="0" err="1"/>
              <a:t>بدنايل</a:t>
            </a:r>
            <a:r>
              <a:rPr sz="1400" dirty="0"/>
              <a:t> (</a:t>
            </a:r>
            <a:r>
              <a:rPr sz="1400" dirty="0" err="1"/>
              <a:t>صيدليات</a:t>
            </a:r>
            <a:r>
              <a:rPr sz="1400" dirty="0"/>
              <a:t>، </a:t>
            </a:r>
            <a:r>
              <a:rPr sz="1400" dirty="0" err="1"/>
              <a:t>مراكز</a:t>
            </a:r>
            <a:r>
              <a:rPr sz="1400" dirty="0"/>
              <a:t> </a:t>
            </a:r>
            <a:r>
              <a:rPr sz="1400" dirty="0" err="1"/>
              <a:t>صحية</a:t>
            </a:r>
            <a:r>
              <a:rPr sz="1400" dirty="0"/>
              <a:t>، </a:t>
            </a:r>
            <a:r>
              <a:rPr sz="1400" dirty="0" err="1"/>
              <a:t>مطاعم</a:t>
            </a:r>
            <a:r>
              <a:rPr sz="1400" dirty="0"/>
              <a:t>).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معرض</a:t>
            </a:r>
            <a:r>
              <a:rPr sz="1400" dirty="0"/>
              <a:t> </a:t>
            </a:r>
            <a:r>
              <a:rPr sz="1400" dirty="0" err="1"/>
              <a:t>صور</a:t>
            </a:r>
            <a:r>
              <a:rPr sz="1400" dirty="0"/>
              <a:t> </a:t>
            </a:r>
            <a:r>
              <a:rPr sz="1400" dirty="0" err="1"/>
              <a:t>توثيقي</a:t>
            </a:r>
            <a:r>
              <a:rPr sz="1400" dirty="0"/>
              <a:t> </a:t>
            </a:r>
            <a:r>
              <a:rPr sz="1400" dirty="0" err="1"/>
              <a:t>لمعالم</a:t>
            </a:r>
            <a:r>
              <a:rPr sz="1400" dirty="0"/>
              <a:t> </a:t>
            </a:r>
            <a:r>
              <a:rPr sz="1400" dirty="0" err="1"/>
              <a:t>البلدة</a:t>
            </a:r>
            <a:r>
              <a:rPr sz="1400" dirty="0"/>
              <a:t> </a:t>
            </a:r>
            <a:r>
              <a:rPr sz="1400" dirty="0" err="1"/>
              <a:t>وتطور</a:t>
            </a:r>
            <a:r>
              <a:rPr sz="1400" dirty="0"/>
              <a:t> </a:t>
            </a:r>
            <a:r>
              <a:rPr sz="1400" dirty="0" err="1"/>
              <a:t>إنجاز</a:t>
            </a:r>
            <a:r>
              <a:rPr sz="1400" dirty="0"/>
              <a:t> </a:t>
            </a:r>
            <a:r>
              <a:rPr sz="1400" dirty="0" err="1"/>
              <a:t>المشاريع</a:t>
            </a:r>
            <a:r>
              <a:rPr sz="1400" dirty="0"/>
              <a:t> </a:t>
            </a:r>
            <a:r>
              <a:rPr sz="1400" dirty="0" err="1"/>
              <a:t>الإنمائية</a:t>
            </a:r>
            <a:r>
              <a:rPr sz="1400" dirty="0"/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3931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9976" y="3931920"/>
            <a:ext cx="3429000" cy="43891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defRPr sz="1150" b="1">
                <a:solidFill>
                  <a:srgbClr val="FFFFFF"/>
                </a:solidFill>
                <a:latin typeface="Arial"/>
              </a:defRPr>
            </a:pPr>
            <a:r>
              <a:t>5. لوحة الإدارة الشاملة (Admin Portal)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4434840"/>
            <a:ext cx="32095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واجهة</a:t>
            </a:r>
            <a:r>
              <a:rPr sz="1400" dirty="0"/>
              <a:t> </a:t>
            </a:r>
            <a:r>
              <a:rPr sz="1400" dirty="0" err="1"/>
              <a:t>متطورة</a:t>
            </a:r>
            <a:r>
              <a:rPr sz="1400" dirty="0"/>
              <a:t> </a:t>
            </a:r>
            <a:r>
              <a:rPr sz="1400" dirty="0" err="1"/>
              <a:t>لموظفي</a:t>
            </a:r>
            <a:r>
              <a:rPr sz="1400" dirty="0"/>
              <a:t> </a:t>
            </a:r>
            <a:r>
              <a:rPr sz="1400" dirty="0" err="1"/>
              <a:t>البلدية</a:t>
            </a:r>
            <a:r>
              <a:rPr sz="1400" dirty="0"/>
              <a:t> </a:t>
            </a:r>
            <a:r>
              <a:rPr sz="1400" dirty="0" err="1"/>
              <a:t>لإدارة</a:t>
            </a:r>
            <a:r>
              <a:rPr sz="1400" dirty="0"/>
              <a:t> </a:t>
            </a:r>
            <a:r>
              <a:rPr sz="1400" dirty="0" err="1"/>
              <a:t>ومعالجة</a:t>
            </a:r>
            <a:r>
              <a:rPr sz="1400" dirty="0"/>
              <a:t> </a:t>
            </a:r>
            <a:r>
              <a:rPr sz="1400" dirty="0" err="1"/>
              <a:t>المعاملات</a:t>
            </a:r>
            <a:r>
              <a:rPr sz="1400" dirty="0"/>
              <a:t> </a:t>
            </a:r>
            <a:r>
              <a:rPr sz="1400" dirty="0" err="1"/>
              <a:t>والمواعيد</a:t>
            </a:r>
            <a:r>
              <a:rPr sz="1400" dirty="0"/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نظام</a:t>
            </a:r>
            <a:r>
              <a:rPr sz="1400" dirty="0"/>
              <a:t> </a:t>
            </a:r>
            <a:r>
              <a:rPr sz="1400" dirty="0" err="1"/>
              <a:t>فلترة</a:t>
            </a:r>
            <a:r>
              <a:rPr sz="1400" dirty="0"/>
              <a:t> </a:t>
            </a:r>
            <a:r>
              <a:rPr sz="1400" dirty="0" err="1"/>
              <a:t>متقدم</a:t>
            </a:r>
            <a:r>
              <a:rPr sz="1400" dirty="0"/>
              <a:t> </a:t>
            </a:r>
            <a:r>
              <a:rPr sz="1400" dirty="0" err="1"/>
              <a:t>للشكاوى</a:t>
            </a:r>
            <a:r>
              <a:rPr sz="1400" dirty="0"/>
              <a:t> </a:t>
            </a:r>
            <a:r>
              <a:rPr sz="1400" dirty="0" err="1"/>
              <a:t>وتكليف</a:t>
            </a:r>
            <a:r>
              <a:rPr sz="1400" dirty="0"/>
              <a:t> </a:t>
            </a:r>
            <a:r>
              <a:rPr sz="1400" dirty="0" err="1"/>
              <a:t>الفرق</a:t>
            </a:r>
            <a:r>
              <a:rPr sz="1400" dirty="0"/>
              <a:t> </a:t>
            </a:r>
            <a:r>
              <a:rPr sz="1400" dirty="0" err="1"/>
              <a:t>الفنية</a:t>
            </a:r>
            <a:r>
              <a:rPr sz="1400" dirty="0"/>
              <a:t> </a:t>
            </a:r>
            <a:r>
              <a:rPr sz="1400" dirty="0" err="1"/>
              <a:t>المختصة</a:t>
            </a:r>
            <a:r>
              <a:rPr sz="1400" dirty="0"/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تحديث</a:t>
            </a:r>
            <a:r>
              <a:rPr sz="1400" dirty="0"/>
              <a:t> </a:t>
            </a:r>
            <a:r>
              <a:rPr sz="1400" dirty="0" err="1"/>
              <a:t>الأخبار</a:t>
            </a:r>
            <a:r>
              <a:rPr sz="1400" dirty="0"/>
              <a:t> </a:t>
            </a:r>
            <a:r>
              <a:rPr sz="1400" dirty="0" err="1"/>
              <a:t>والدليل</a:t>
            </a:r>
            <a:r>
              <a:rPr sz="1400" dirty="0"/>
              <a:t> </a:t>
            </a:r>
            <a:r>
              <a:rPr sz="1400" dirty="0" err="1"/>
              <a:t>المحلي</a:t>
            </a:r>
            <a:r>
              <a:rPr sz="1400" dirty="0"/>
              <a:t> </a:t>
            </a:r>
            <a:r>
              <a:rPr sz="1400" dirty="0" err="1"/>
              <a:t>ومعارض</a:t>
            </a:r>
            <a:r>
              <a:rPr sz="1400" dirty="0"/>
              <a:t> </a:t>
            </a:r>
            <a:r>
              <a:rPr sz="1400" dirty="0" err="1"/>
              <a:t>الصور</a:t>
            </a:r>
            <a:r>
              <a:rPr sz="1400" dirty="0"/>
              <a:t> </a:t>
            </a:r>
            <a:r>
              <a:rPr sz="1400" dirty="0" err="1"/>
              <a:t>بسهولة</a:t>
            </a:r>
            <a:r>
              <a:rPr sz="1400" dirty="0"/>
              <a:t> </a:t>
            </a:r>
            <a:r>
              <a:rPr sz="1400" dirty="0" err="1"/>
              <a:t>وسرعة</a:t>
            </a:r>
            <a:r>
              <a:rPr sz="1400" dirty="0"/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2" y="3931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28432" y="3931920"/>
            <a:ext cx="3429000" cy="438912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defRPr sz="1150" b="1">
                <a:solidFill>
                  <a:srgbClr val="FFFFFF"/>
                </a:solidFill>
                <a:latin typeface="Arial"/>
              </a:defRPr>
            </a:pPr>
            <a:r>
              <a:t>6. البنية البرمجية المتطورة (Tech Stack)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434840"/>
            <a:ext cx="32095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واجهة</a:t>
            </a:r>
            <a:r>
              <a:rPr sz="1400" dirty="0"/>
              <a:t> </a:t>
            </a:r>
            <a:r>
              <a:rPr sz="1400" dirty="0" err="1"/>
              <a:t>سريعة</a:t>
            </a:r>
            <a:r>
              <a:rPr sz="1400" dirty="0"/>
              <a:t> </a:t>
            </a:r>
            <a:r>
              <a:rPr sz="1400" dirty="0" err="1"/>
              <a:t>وخفيفة</a:t>
            </a:r>
            <a:r>
              <a:rPr sz="1400" dirty="0"/>
              <a:t> </a:t>
            </a:r>
            <a:r>
              <a:rPr sz="1400" dirty="0" err="1"/>
              <a:t>مبنية</a:t>
            </a:r>
            <a:r>
              <a:rPr sz="1400" dirty="0"/>
              <a:t> </a:t>
            </a:r>
            <a:r>
              <a:rPr sz="1400" dirty="0" err="1"/>
              <a:t>بتقنيات</a:t>
            </a:r>
            <a:r>
              <a:rPr sz="1400" dirty="0"/>
              <a:t> React </a:t>
            </a:r>
            <a:r>
              <a:rPr sz="1400" dirty="0" err="1"/>
              <a:t>وTailwind</a:t>
            </a:r>
            <a:r>
              <a:rPr sz="1400" dirty="0"/>
              <a:t> CSS.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خادم</a:t>
            </a:r>
            <a:r>
              <a:rPr sz="1400" dirty="0"/>
              <a:t> </a:t>
            </a:r>
            <a:r>
              <a:rPr sz="1400" dirty="0" err="1"/>
              <a:t>خلفي</a:t>
            </a:r>
            <a:r>
              <a:rPr sz="1400" dirty="0"/>
              <a:t> </a:t>
            </a:r>
            <a:r>
              <a:rPr sz="1400" dirty="0" err="1"/>
              <a:t>متين</a:t>
            </a:r>
            <a:r>
              <a:rPr sz="1400" dirty="0"/>
              <a:t> </a:t>
            </a:r>
            <a:r>
              <a:rPr sz="1400" dirty="0" err="1"/>
              <a:t>بنظام</a:t>
            </a:r>
            <a:r>
              <a:rPr sz="1400" dirty="0"/>
              <a:t> Node.js </a:t>
            </a:r>
            <a:r>
              <a:rPr sz="1400" dirty="0" err="1"/>
              <a:t>وقواعد</a:t>
            </a:r>
            <a:r>
              <a:rPr sz="1400" dirty="0"/>
              <a:t> </a:t>
            </a:r>
            <a:r>
              <a:rPr sz="1400" dirty="0" err="1"/>
              <a:t>بيانات</a:t>
            </a:r>
            <a:r>
              <a:rPr sz="1400" dirty="0"/>
              <a:t> MySQL.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دعم</a:t>
            </a:r>
            <a:r>
              <a:rPr sz="1400" dirty="0"/>
              <a:t> </a:t>
            </a:r>
            <a:r>
              <a:rPr sz="1400" dirty="0" err="1"/>
              <a:t>كامل</a:t>
            </a:r>
            <a:r>
              <a:rPr sz="1400" dirty="0"/>
              <a:t> </a:t>
            </a:r>
            <a:r>
              <a:rPr sz="1400" dirty="0" err="1"/>
              <a:t>وتلقائي</a:t>
            </a:r>
            <a:r>
              <a:rPr sz="1400" dirty="0"/>
              <a:t> </a:t>
            </a:r>
            <a:r>
              <a:rPr sz="1400" dirty="0" err="1"/>
              <a:t>للغتين</a:t>
            </a:r>
            <a:r>
              <a:rPr sz="1400" dirty="0"/>
              <a:t> </a:t>
            </a:r>
            <a:r>
              <a:rPr sz="1400" dirty="0" err="1"/>
              <a:t>العربية</a:t>
            </a:r>
            <a:r>
              <a:rPr sz="1400" dirty="0"/>
              <a:t> </a:t>
            </a:r>
            <a:r>
              <a:rPr sz="1400" dirty="0" err="1"/>
              <a:t>والإنجليزية</a:t>
            </a:r>
            <a:r>
              <a:rPr sz="1400" dirty="0"/>
              <a:t> </a:t>
            </a:r>
            <a:r>
              <a:rPr sz="1400" dirty="0" err="1"/>
              <a:t>وتوافق</a:t>
            </a:r>
            <a:r>
              <a:rPr sz="1400" dirty="0"/>
              <a:t> 100% </a:t>
            </a:r>
            <a:r>
              <a:rPr sz="1400" dirty="0" err="1"/>
              <a:t>مع</a:t>
            </a:r>
            <a:r>
              <a:rPr sz="1400" dirty="0"/>
              <a:t> </a:t>
            </a:r>
            <a:r>
              <a:rPr sz="1400" dirty="0" err="1"/>
              <a:t>الهواتف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1">
                <a:solidFill>
                  <a:srgbClr val="1E6F50"/>
                </a:solidFill>
                <a:latin typeface="Arial"/>
              </a:defRPr>
            </a:pPr>
            <a:r>
              <a:t>بلدية بدنايل | بوابة التحول الرقمي والحكومة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400" b="1">
                <a:solidFill>
                  <a:srgbClr val="0F2942"/>
                </a:solidFill>
                <a:latin typeface="Arial"/>
              </a:defRPr>
            </a:pPr>
            <a:r>
              <a:t>الأثر الإيجابي والتنموي على مجتمع قرية بدنايل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000" b="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4 من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3429000" cy="82296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400" b="1">
                <a:solidFill>
                  <a:srgbClr val="FFFFFF"/>
                </a:solidFill>
                <a:latin typeface="Arial"/>
              </a:defRPr>
            </a:pPr>
            <a:r>
              <a:t>🏡  الأهالي والمقيمون في بدنايل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06040"/>
            <a:ext cx="3099816" cy="263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إنهاء</a:t>
            </a:r>
            <a:r>
              <a:rPr sz="1400" dirty="0"/>
              <a:t> </a:t>
            </a:r>
            <a:r>
              <a:rPr sz="1400" dirty="0" err="1"/>
              <a:t>عناء</a:t>
            </a:r>
            <a:r>
              <a:rPr sz="1400" dirty="0"/>
              <a:t> </a:t>
            </a:r>
            <a:r>
              <a:rPr sz="1400" dirty="0" err="1"/>
              <a:t>الانتظار</a:t>
            </a:r>
            <a:r>
              <a:rPr sz="1400" dirty="0"/>
              <a:t> </a:t>
            </a:r>
            <a:r>
              <a:rPr sz="1400" dirty="0" err="1"/>
              <a:t>والازدحام</a:t>
            </a:r>
            <a:r>
              <a:rPr sz="1400" dirty="0"/>
              <a:t> </a:t>
            </a:r>
            <a:r>
              <a:rPr sz="1400" dirty="0" err="1"/>
              <a:t>أمام</a:t>
            </a:r>
            <a:r>
              <a:rPr sz="1400" dirty="0"/>
              <a:t> </a:t>
            </a:r>
            <a:r>
              <a:rPr sz="1400" dirty="0" err="1"/>
              <a:t>مكاتب</a:t>
            </a:r>
            <a:r>
              <a:rPr sz="1400" dirty="0"/>
              <a:t> </a:t>
            </a:r>
            <a:r>
              <a:rPr sz="1400" dirty="0" err="1"/>
              <a:t>البلدية</a:t>
            </a:r>
            <a:r>
              <a:rPr sz="1400" dirty="0"/>
              <a:t> </a:t>
            </a:r>
            <a:r>
              <a:rPr sz="1400" dirty="0" err="1"/>
              <a:t>وتوفير</a:t>
            </a:r>
            <a:r>
              <a:rPr sz="1400" dirty="0"/>
              <a:t> </a:t>
            </a:r>
            <a:r>
              <a:rPr sz="1400" dirty="0" err="1"/>
              <a:t>وقت</a:t>
            </a:r>
            <a:r>
              <a:rPr sz="1400" dirty="0"/>
              <a:t> </a:t>
            </a:r>
            <a:r>
              <a:rPr sz="1400" dirty="0" err="1"/>
              <a:t>ثمين</a:t>
            </a:r>
            <a:r>
              <a:rPr sz="1400" dirty="0"/>
              <a:t> </a:t>
            </a:r>
            <a:r>
              <a:rPr sz="1400" dirty="0" err="1"/>
              <a:t>للمواطنين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تقديم</a:t>
            </a:r>
            <a:r>
              <a:rPr sz="1400" dirty="0"/>
              <a:t> </a:t>
            </a:r>
            <a:r>
              <a:rPr sz="1400" dirty="0" err="1"/>
              <a:t>الشكاوى</a:t>
            </a:r>
            <a:r>
              <a:rPr sz="1400" dirty="0"/>
              <a:t> </a:t>
            </a:r>
            <a:r>
              <a:rPr sz="1400" dirty="0" err="1"/>
              <a:t>فور</a:t>
            </a:r>
            <a:r>
              <a:rPr sz="1400" dirty="0"/>
              <a:t> </a:t>
            </a:r>
            <a:r>
              <a:rPr sz="1400" dirty="0" err="1"/>
              <a:t>حدوثها</a:t>
            </a:r>
            <a:r>
              <a:rPr sz="1400" dirty="0"/>
              <a:t> </a:t>
            </a:r>
            <a:r>
              <a:rPr sz="1400" dirty="0" err="1"/>
              <a:t>ومتابعة</a:t>
            </a:r>
            <a:r>
              <a:rPr sz="1400" dirty="0"/>
              <a:t> </a:t>
            </a:r>
            <a:r>
              <a:rPr sz="1400" dirty="0" err="1"/>
              <a:t>مسار</a:t>
            </a:r>
            <a:r>
              <a:rPr sz="1400" dirty="0"/>
              <a:t> </a:t>
            </a:r>
            <a:r>
              <a:rPr sz="1400" dirty="0" err="1"/>
              <a:t>معالجتها</a:t>
            </a:r>
            <a:r>
              <a:rPr sz="1400" dirty="0"/>
              <a:t> </a:t>
            </a:r>
            <a:r>
              <a:rPr sz="1400" dirty="0" err="1"/>
              <a:t>بشفافية</a:t>
            </a:r>
            <a:r>
              <a:rPr sz="1400" dirty="0"/>
              <a:t> </a:t>
            </a:r>
            <a:r>
              <a:rPr sz="1400" dirty="0" err="1"/>
              <a:t>دون</a:t>
            </a:r>
            <a:r>
              <a:rPr sz="1400" dirty="0"/>
              <a:t> </a:t>
            </a:r>
            <a:r>
              <a:rPr sz="1400" dirty="0" err="1"/>
              <a:t>مراجعة</a:t>
            </a:r>
            <a:r>
              <a:rPr sz="1400" dirty="0"/>
              <a:t> </a:t>
            </a:r>
            <a:r>
              <a:rPr sz="1400" dirty="0" err="1"/>
              <a:t>شخصية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معرفة</a:t>
            </a:r>
            <a:r>
              <a:rPr sz="1400" dirty="0"/>
              <a:t> </a:t>
            </a:r>
            <a:r>
              <a:rPr sz="1400" dirty="0" err="1"/>
              <a:t>شروط</a:t>
            </a:r>
            <a:r>
              <a:rPr sz="1400" dirty="0"/>
              <a:t> </a:t>
            </a:r>
            <a:r>
              <a:rPr sz="1400" dirty="0" err="1"/>
              <a:t>ومستندات</a:t>
            </a:r>
            <a:r>
              <a:rPr sz="1400" dirty="0"/>
              <a:t> </a:t>
            </a:r>
            <a:r>
              <a:rPr sz="1400" dirty="0" err="1"/>
              <a:t>المعاملات</a:t>
            </a:r>
            <a:r>
              <a:rPr sz="1400" dirty="0"/>
              <a:t> </a:t>
            </a:r>
            <a:r>
              <a:rPr sz="1400" dirty="0" err="1"/>
              <a:t>مسبقاً</a:t>
            </a:r>
            <a:r>
              <a:rPr sz="1400" dirty="0"/>
              <a:t> </a:t>
            </a:r>
            <a:r>
              <a:rPr sz="1400" dirty="0" err="1"/>
              <a:t>قبل</a:t>
            </a:r>
            <a:r>
              <a:rPr sz="1400" dirty="0"/>
              <a:t> </a:t>
            </a:r>
            <a:r>
              <a:rPr sz="1400" dirty="0" err="1"/>
              <a:t>الذهاب</a:t>
            </a:r>
            <a:r>
              <a:rPr sz="1400" dirty="0"/>
              <a:t> </a:t>
            </a:r>
            <a:r>
              <a:rPr sz="1400" dirty="0" err="1"/>
              <a:t>إلى</a:t>
            </a:r>
            <a:r>
              <a:rPr sz="1400" dirty="0"/>
              <a:t> </a:t>
            </a:r>
            <a:r>
              <a:rPr sz="1400" dirty="0" err="1"/>
              <a:t>البلدية</a:t>
            </a:r>
            <a:r>
              <a:rPr sz="1400" dirty="0"/>
              <a:t> </a:t>
            </a:r>
            <a:r>
              <a:rPr sz="1400" dirty="0" err="1"/>
              <a:t>لتجنب</a:t>
            </a:r>
            <a:r>
              <a:rPr sz="1400" dirty="0"/>
              <a:t> </a:t>
            </a:r>
            <a:r>
              <a:rPr sz="1400" dirty="0" err="1"/>
              <a:t>تكرار</a:t>
            </a:r>
            <a:r>
              <a:rPr sz="1400" dirty="0"/>
              <a:t> </a:t>
            </a:r>
            <a:r>
              <a:rPr sz="1400" dirty="0" err="1"/>
              <a:t>الزيارات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خدمة</a:t>
            </a:r>
            <a:r>
              <a:rPr sz="1400" dirty="0"/>
              <a:t> </a:t>
            </a:r>
            <a:r>
              <a:rPr sz="1400" dirty="0" err="1"/>
              <a:t>إلكترونية</a:t>
            </a:r>
            <a:r>
              <a:rPr sz="1400" dirty="0"/>
              <a:t> </a:t>
            </a:r>
            <a:r>
              <a:rPr sz="1400" dirty="0" err="1"/>
              <a:t>متاحة</a:t>
            </a:r>
            <a:r>
              <a:rPr sz="1400" dirty="0"/>
              <a:t> 24/7 </a:t>
            </a:r>
            <a:r>
              <a:rPr sz="1400" dirty="0" err="1"/>
              <a:t>من</a:t>
            </a:r>
            <a:r>
              <a:rPr sz="1400" dirty="0"/>
              <a:t> </a:t>
            </a:r>
            <a:r>
              <a:rPr sz="1400" dirty="0" err="1"/>
              <a:t>المنزل</a:t>
            </a:r>
            <a:r>
              <a:rPr sz="1400" dirty="0"/>
              <a:t> </a:t>
            </a:r>
            <a:r>
              <a:rPr sz="1400" dirty="0" err="1"/>
              <a:t>عبر</a:t>
            </a:r>
            <a:r>
              <a:rPr sz="1400" dirty="0"/>
              <a:t> </a:t>
            </a:r>
            <a:r>
              <a:rPr sz="1400" dirty="0" err="1"/>
              <a:t>الهاتف</a:t>
            </a:r>
            <a:r>
              <a:rPr sz="1400" dirty="0"/>
              <a:t> </a:t>
            </a:r>
            <a:r>
              <a:rPr sz="1400" dirty="0" err="1"/>
              <a:t>الذكي</a:t>
            </a:r>
            <a:r>
              <a:rPr sz="1400" dirty="0"/>
              <a:t> </a:t>
            </a:r>
            <a:r>
              <a:rPr sz="1400" dirty="0" err="1"/>
              <a:t>بكل</a:t>
            </a:r>
            <a:r>
              <a:rPr sz="1400" dirty="0"/>
              <a:t> </a:t>
            </a:r>
            <a:r>
              <a:rPr sz="1400" dirty="0" err="1"/>
              <a:t>سهولة</a:t>
            </a:r>
            <a:r>
              <a:rPr sz="1400" dirty="0"/>
              <a:t> </a:t>
            </a:r>
            <a:r>
              <a:rPr sz="1400" dirty="0" err="1"/>
              <a:t>وراحة</a:t>
            </a:r>
            <a:r>
              <a:rPr sz="1400" dirty="0"/>
              <a:t>.</a:t>
            </a:r>
            <a:br>
              <a:rPr dirty="0"/>
            </a:b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379976" y="16459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9976" y="1645920"/>
            <a:ext cx="3429000" cy="8229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400" b="1">
                <a:solidFill>
                  <a:srgbClr val="FFFFFF"/>
                </a:solidFill>
                <a:latin typeface="Arial"/>
              </a:defRPr>
            </a:pPr>
            <a:r>
              <a:t>✈️  أبناء بدنايل في بلاد الاغتراب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606040"/>
            <a:ext cx="30998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بناء</a:t>
            </a:r>
            <a:r>
              <a:rPr sz="1400" dirty="0"/>
              <a:t> </a:t>
            </a:r>
            <a:r>
              <a:rPr sz="1400" dirty="0" err="1"/>
              <a:t>جسر</a:t>
            </a:r>
            <a:r>
              <a:rPr sz="1400" dirty="0"/>
              <a:t> </a:t>
            </a:r>
            <a:r>
              <a:rPr sz="1400" dirty="0" err="1"/>
              <a:t>تواصل</a:t>
            </a:r>
            <a:r>
              <a:rPr sz="1400" dirty="0"/>
              <a:t> </a:t>
            </a:r>
            <a:r>
              <a:rPr sz="1400" dirty="0" err="1"/>
              <a:t>دائم</a:t>
            </a:r>
            <a:r>
              <a:rPr sz="1400" dirty="0"/>
              <a:t> </a:t>
            </a:r>
            <a:r>
              <a:rPr sz="1400" dirty="0" err="1"/>
              <a:t>وموثوق</a:t>
            </a:r>
            <a:r>
              <a:rPr sz="1400" dirty="0"/>
              <a:t> </a:t>
            </a:r>
            <a:r>
              <a:rPr sz="1400" dirty="0" err="1"/>
              <a:t>يربط</a:t>
            </a:r>
            <a:r>
              <a:rPr sz="1400" dirty="0"/>
              <a:t> </a:t>
            </a:r>
            <a:r>
              <a:rPr sz="1400" dirty="0" err="1"/>
              <a:t>المغترب</a:t>
            </a:r>
            <a:r>
              <a:rPr sz="1400" dirty="0"/>
              <a:t> </a:t>
            </a:r>
            <a:r>
              <a:rPr sz="1400" dirty="0" err="1"/>
              <a:t>بأخبار</a:t>
            </a:r>
            <a:r>
              <a:rPr sz="1400" dirty="0"/>
              <a:t> </a:t>
            </a:r>
            <a:r>
              <a:rPr sz="1400" dirty="0" err="1"/>
              <a:t>بلدته</a:t>
            </a:r>
            <a:r>
              <a:rPr sz="1400" dirty="0"/>
              <a:t> </a:t>
            </a:r>
            <a:r>
              <a:rPr sz="1400" dirty="0" err="1"/>
              <a:t>ومشروعاتها</a:t>
            </a:r>
            <a:r>
              <a:rPr sz="1400" dirty="0"/>
              <a:t> </a:t>
            </a:r>
            <a:r>
              <a:rPr sz="1400" dirty="0" err="1"/>
              <a:t>لحظة</a:t>
            </a:r>
            <a:r>
              <a:rPr sz="1400" dirty="0"/>
              <a:t> </a:t>
            </a:r>
            <a:r>
              <a:rPr sz="1400" dirty="0" err="1"/>
              <a:t>بلحظة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إمكانية</a:t>
            </a:r>
            <a:r>
              <a:rPr sz="1400" dirty="0"/>
              <a:t> </a:t>
            </a:r>
            <a:r>
              <a:rPr sz="1400" dirty="0" err="1"/>
              <a:t>متابعة</a:t>
            </a:r>
            <a:r>
              <a:rPr sz="1400" dirty="0"/>
              <a:t> </a:t>
            </a:r>
            <a:r>
              <a:rPr sz="1400" dirty="0" err="1"/>
              <a:t>المعاملات</a:t>
            </a:r>
            <a:r>
              <a:rPr sz="1400" dirty="0"/>
              <a:t> </a:t>
            </a:r>
            <a:r>
              <a:rPr sz="1400" dirty="0" err="1"/>
              <a:t>العقارية</a:t>
            </a:r>
            <a:r>
              <a:rPr sz="1400" dirty="0"/>
              <a:t> </a:t>
            </a:r>
            <a:r>
              <a:rPr sz="1400" dirty="0" err="1"/>
              <a:t>والإدارية</a:t>
            </a:r>
            <a:r>
              <a:rPr sz="1400" dirty="0"/>
              <a:t> </a:t>
            </a:r>
            <a:r>
              <a:rPr sz="1400" dirty="0" err="1"/>
              <a:t>والتواصل</a:t>
            </a:r>
            <a:r>
              <a:rPr sz="1400" dirty="0"/>
              <a:t> </a:t>
            </a:r>
            <a:r>
              <a:rPr sz="1400" dirty="0" err="1"/>
              <a:t>المباشر</a:t>
            </a:r>
            <a:r>
              <a:rPr sz="1400" dirty="0"/>
              <a:t> </a:t>
            </a:r>
            <a:r>
              <a:rPr sz="1400" dirty="0" err="1"/>
              <a:t>مع</a:t>
            </a:r>
            <a:r>
              <a:rPr sz="1400" dirty="0"/>
              <a:t> </a:t>
            </a:r>
            <a:r>
              <a:rPr sz="1400" dirty="0" err="1"/>
              <a:t>المجلس</a:t>
            </a:r>
            <a:r>
              <a:rPr sz="1400" dirty="0"/>
              <a:t> </a:t>
            </a:r>
            <a:r>
              <a:rPr sz="1400" dirty="0" err="1"/>
              <a:t>البلدي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المساهمة</a:t>
            </a:r>
            <a:r>
              <a:rPr sz="1400" dirty="0"/>
              <a:t> </a:t>
            </a:r>
            <a:r>
              <a:rPr sz="1400" dirty="0" err="1"/>
              <a:t>في</a:t>
            </a:r>
            <a:r>
              <a:rPr sz="1400" dirty="0"/>
              <a:t> </a:t>
            </a:r>
            <a:r>
              <a:rPr sz="1400" dirty="0" err="1"/>
              <a:t>دعم</a:t>
            </a:r>
            <a:r>
              <a:rPr sz="1400" dirty="0"/>
              <a:t> </a:t>
            </a:r>
            <a:r>
              <a:rPr sz="1400" dirty="0" err="1"/>
              <a:t>المبادرات</a:t>
            </a:r>
            <a:r>
              <a:rPr sz="1400" dirty="0"/>
              <a:t> </a:t>
            </a:r>
            <a:r>
              <a:rPr sz="1400" dirty="0" err="1"/>
              <a:t>التنموية</a:t>
            </a:r>
            <a:r>
              <a:rPr sz="1400" dirty="0"/>
              <a:t> </a:t>
            </a:r>
            <a:r>
              <a:rPr sz="1400" dirty="0" err="1"/>
              <a:t>والخيرية</a:t>
            </a:r>
            <a:r>
              <a:rPr sz="1400" dirty="0"/>
              <a:t> </a:t>
            </a:r>
            <a:r>
              <a:rPr sz="1400" dirty="0" err="1"/>
              <a:t>التي</a:t>
            </a:r>
            <a:r>
              <a:rPr sz="1400" dirty="0"/>
              <a:t> </a:t>
            </a:r>
            <a:r>
              <a:rPr sz="1400" dirty="0" err="1"/>
              <a:t>تطرحها</a:t>
            </a:r>
            <a:r>
              <a:rPr sz="1400" dirty="0"/>
              <a:t> </a:t>
            </a:r>
            <a:r>
              <a:rPr sz="1400" dirty="0" err="1"/>
              <a:t>البلدية</a:t>
            </a:r>
            <a:r>
              <a:rPr sz="1400" dirty="0"/>
              <a:t> </a:t>
            </a:r>
            <a:r>
              <a:rPr sz="1400" dirty="0" err="1"/>
              <a:t>بشفافية</a:t>
            </a:r>
            <a:r>
              <a:rPr sz="1400" dirty="0"/>
              <a:t> </a:t>
            </a:r>
            <a:r>
              <a:rPr sz="1400" dirty="0" err="1"/>
              <a:t>تامة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تعزيز</a:t>
            </a:r>
            <a:r>
              <a:rPr sz="1400" dirty="0"/>
              <a:t> </a:t>
            </a:r>
            <a:r>
              <a:rPr sz="1400" dirty="0" err="1"/>
              <a:t>انتماء</a:t>
            </a:r>
            <a:r>
              <a:rPr sz="1400" dirty="0"/>
              <a:t> </a:t>
            </a:r>
            <a:r>
              <a:rPr sz="1400" dirty="0" err="1"/>
              <a:t>أبناء</a:t>
            </a:r>
            <a:r>
              <a:rPr sz="1400" dirty="0"/>
              <a:t> </a:t>
            </a:r>
            <a:r>
              <a:rPr sz="1400" dirty="0" err="1"/>
              <a:t>المغتربين</a:t>
            </a:r>
            <a:r>
              <a:rPr sz="1400" dirty="0"/>
              <a:t> </a:t>
            </a:r>
            <a:r>
              <a:rPr sz="1400" dirty="0" err="1"/>
              <a:t>الشباب</a:t>
            </a:r>
            <a:r>
              <a:rPr sz="1400" dirty="0"/>
              <a:t> </a:t>
            </a:r>
            <a:r>
              <a:rPr sz="1400" dirty="0" err="1"/>
              <a:t>بهويتهم</a:t>
            </a:r>
            <a:r>
              <a:rPr sz="1400" dirty="0"/>
              <a:t> </a:t>
            </a:r>
            <a:r>
              <a:rPr sz="1400" dirty="0" err="1"/>
              <a:t>وتراث</a:t>
            </a:r>
            <a:r>
              <a:rPr sz="1400" dirty="0"/>
              <a:t> </a:t>
            </a:r>
            <a:r>
              <a:rPr sz="1400" dirty="0" err="1"/>
              <a:t>بلدتهم</a:t>
            </a:r>
            <a:r>
              <a:rPr sz="1400" dirty="0"/>
              <a:t> </a:t>
            </a:r>
            <a:r>
              <a:rPr sz="1400" dirty="0" err="1"/>
              <a:t>عبر</a:t>
            </a:r>
            <a:r>
              <a:rPr sz="1400" dirty="0"/>
              <a:t> </a:t>
            </a:r>
            <a:r>
              <a:rPr sz="1400" dirty="0" err="1"/>
              <a:t>الدليل</a:t>
            </a:r>
            <a:r>
              <a:rPr sz="1400" dirty="0"/>
              <a:t> </a:t>
            </a:r>
            <a:r>
              <a:rPr sz="1400" dirty="0" err="1"/>
              <a:t>والمعارض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8028432" y="16459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8432" y="1645920"/>
            <a:ext cx="3429000" cy="822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400" b="1">
                <a:solidFill>
                  <a:srgbClr val="FFFFFF"/>
                </a:solidFill>
                <a:latin typeface="Arial"/>
              </a:defRPr>
            </a:pPr>
            <a:r>
              <a:t>🏛️  المجلس البلدي والإدارة المحلية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606040"/>
            <a:ext cx="30998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أرشفة</a:t>
            </a:r>
            <a:r>
              <a:rPr sz="1400" dirty="0"/>
              <a:t> </a:t>
            </a:r>
            <a:r>
              <a:rPr sz="1400" dirty="0" err="1"/>
              <a:t>إلكترونية</a:t>
            </a:r>
            <a:r>
              <a:rPr sz="1400" dirty="0"/>
              <a:t> </a:t>
            </a:r>
            <a:r>
              <a:rPr sz="1400" dirty="0" err="1"/>
              <a:t>متطورة</a:t>
            </a:r>
            <a:r>
              <a:rPr sz="1400" dirty="0"/>
              <a:t> </a:t>
            </a:r>
            <a:r>
              <a:rPr sz="1400" dirty="0" err="1"/>
              <a:t>لجميع</a:t>
            </a:r>
            <a:r>
              <a:rPr sz="1400" dirty="0"/>
              <a:t> </a:t>
            </a:r>
            <a:r>
              <a:rPr sz="1400" dirty="0" err="1"/>
              <a:t>المعاملات</a:t>
            </a:r>
            <a:r>
              <a:rPr sz="1400" dirty="0"/>
              <a:t> </a:t>
            </a:r>
            <a:r>
              <a:rPr sz="1400" dirty="0" err="1"/>
              <a:t>والشكاوى</a:t>
            </a:r>
            <a:r>
              <a:rPr sz="1400" dirty="0"/>
              <a:t> </a:t>
            </a:r>
            <a:r>
              <a:rPr sz="1400" dirty="0" err="1"/>
              <a:t>تمنع</a:t>
            </a:r>
            <a:r>
              <a:rPr sz="1400" dirty="0"/>
              <a:t> </a:t>
            </a:r>
            <a:r>
              <a:rPr sz="1400" dirty="0" err="1"/>
              <a:t>ضياع</a:t>
            </a:r>
            <a:r>
              <a:rPr sz="1400" dirty="0"/>
              <a:t> </a:t>
            </a:r>
            <a:r>
              <a:rPr sz="1400" dirty="0" err="1"/>
              <a:t>أو</a:t>
            </a:r>
            <a:r>
              <a:rPr sz="1400" dirty="0"/>
              <a:t> </a:t>
            </a:r>
            <a:r>
              <a:rPr sz="1400" dirty="0" err="1"/>
              <a:t>تلف</a:t>
            </a:r>
            <a:r>
              <a:rPr sz="1400" dirty="0"/>
              <a:t> </a:t>
            </a:r>
            <a:r>
              <a:rPr sz="1400" dirty="0" err="1"/>
              <a:t>السجلات</a:t>
            </a:r>
            <a:r>
              <a:rPr sz="1400" dirty="0"/>
              <a:t> </a:t>
            </a:r>
            <a:r>
              <a:rPr sz="1400" dirty="0" err="1"/>
              <a:t>الورقية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سرعة</a:t>
            </a:r>
            <a:r>
              <a:rPr sz="1400" dirty="0"/>
              <a:t> </a:t>
            </a:r>
            <a:r>
              <a:rPr sz="1400" dirty="0" err="1"/>
              <a:t>توجيه</a:t>
            </a:r>
            <a:r>
              <a:rPr sz="1400" dirty="0"/>
              <a:t> </a:t>
            </a:r>
            <a:r>
              <a:rPr sz="1400" dirty="0" err="1"/>
              <a:t>ورش</a:t>
            </a:r>
            <a:r>
              <a:rPr sz="1400" dirty="0"/>
              <a:t> </a:t>
            </a:r>
            <a:r>
              <a:rPr sz="1400" dirty="0" err="1"/>
              <a:t>الطوارئ</a:t>
            </a:r>
            <a:r>
              <a:rPr sz="1400" dirty="0"/>
              <a:t> </a:t>
            </a:r>
            <a:r>
              <a:rPr sz="1400" dirty="0" err="1"/>
              <a:t>وحصر</a:t>
            </a:r>
            <a:r>
              <a:rPr sz="1400" dirty="0"/>
              <a:t> </a:t>
            </a:r>
            <a:r>
              <a:rPr sz="1400" dirty="0" err="1"/>
              <a:t>الأعطال</a:t>
            </a:r>
            <a:r>
              <a:rPr sz="1400" dirty="0"/>
              <a:t> </a:t>
            </a:r>
            <a:r>
              <a:rPr sz="1400" dirty="0" err="1"/>
              <a:t>والمشاكل</a:t>
            </a:r>
            <a:r>
              <a:rPr sz="1400" dirty="0"/>
              <a:t> </a:t>
            </a:r>
            <a:r>
              <a:rPr sz="1400" dirty="0" err="1"/>
              <a:t>الأكثر</a:t>
            </a:r>
            <a:r>
              <a:rPr sz="1400" dirty="0"/>
              <a:t> </a:t>
            </a:r>
            <a:r>
              <a:rPr sz="1400" dirty="0" err="1"/>
              <a:t>تكراراً</a:t>
            </a:r>
            <a:r>
              <a:rPr sz="1400" dirty="0"/>
              <a:t> </a:t>
            </a:r>
            <a:r>
              <a:rPr sz="1400" dirty="0" err="1"/>
              <a:t>في</a:t>
            </a:r>
            <a:r>
              <a:rPr sz="1400" dirty="0"/>
              <a:t> </a:t>
            </a:r>
            <a:r>
              <a:rPr sz="1400" dirty="0" err="1"/>
              <a:t>أحياء</a:t>
            </a:r>
            <a:r>
              <a:rPr sz="1400" dirty="0"/>
              <a:t> </a:t>
            </a:r>
            <a:r>
              <a:rPr sz="1400" dirty="0" err="1"/>
              <a:t>البلدة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توفير</a:t>
            </a:r>
            <a:r>
              <a:rPr sz="1400" dirty="0"/>
              <a:t> </a:t>
            </a:r>
            <a:r>
              <a:rPr sz="1400" dirty="0" err="1"/>
              <a:t>هائل</a:t>
            </a:r>
            <a:r>
              <a:rPr sz="1400" dirty="0"/>
              <a:t> </a:t>
            </a:r>
            <a:r>
              <a:rPr sz="1400" dirty="0" err="1"/>
              <a:t>في</a:t>
            </a:r>
            <a:r>
              <a:rPr sz="1400" dirty="0"/>
              <a:t> </a:t>
            </a:r>
            <a:r>
              <a:rPr sz="1400" dirty="0" err="1"/>
              <a:t>النفقات</a:t>
            </a:r>
            <a:r>
              <a:rPr sz="1400" dirty="0"/>
              <a:t> </a:t>
            </a:r>
            <a:r>
              <a:rPr sz="1400" dirty="0" err="1"/>
              <a:t>الإدارية</a:t>
            </a:r>
            <a:r>
              <a:rPr sz="1400" dirty="0"/>
              <a:t> </a:t>
            </a:r>
            <a:r>
              <a:rPr sz="1400" dirty="0" err="1"/>
              <a:t>والمطبوعات</a:t>
            </a:r>
            <a:r>
              <a:rPr sz="1400" dirty="0"/>
              <a:t> </a:t>
            </a:r>
            <a:r>
              <a:rPr sz="1400" dirty="0" err="1"/>
              <a:t>والأوراق</a:t>
            </a:r>
            <a:r>
              <a:rPr sz="1400" dirty="0"/>
              <a:t> </a:t>
            </a:r>
            <a:r>
              <a:rPr sz="1400" dirty="0" err="1"/>
              <a:t>وساعات</a:t>
            </a:r>
            <a:r>
              <a:rPr sz="1400" dirty="0"/>
              <a:t> </a:t>
            </a:r>
            <a:r>
              <a:rPr sz="1400" dirty="0" err="1"/>
              <a:t>العمل</a:t>
            </a:r>
            <a:r>
              <a:rPr sz="1400" dirty="0"/>
              <a:t> </a:t>
            </a:r>
            <a:r>
              <a:rPr sz="1400" dirty="0" err="1"/>
              <a:t>البشري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1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ترسيخ</a:t>
            </a:r>
            <a:r>
              <a:rPr sz="1400" dirty="0"/>
              <a:t> </a:t>
            </a:r>
            <a:r>
              <a:rPr sz="1400" dirty="0" err="1"/>
              <a:t>مكانة</a:t>
            </a:r>
            <a:r>
              <a:rPr sz="1400" dirty="0"/>
              <a:t> </a:t>
            </a:r>
            <a:r>
              <a:rPr sz="1400" dirty="0" err="1"/>
              <a:t>بلدة</a:t>
            </a:r>
            <a:r>
              <a:rPr sz="1400" dirty="0"/>
              <a:t> </a:t>
            </a:r>
            <a:r>
              <a:rPr sz="1400" dirty="0" err="1"/>
              <a:t>بدنايل</a:t>
            </a:r>
            <a:r>
              <a:rPr sz="1400" dirty="0"/>
              <a:t> </a:t>
            </a:r>
            <a:r>
              <a:rPr sz="1400" dirty="0" err="1"/>
              <a:t>كنموذج</a:t>
            </a:r>
            <a:r>
              <a:rPr sz="1400" dirty="0"/>
              <a:t> </a:t>
            </a:r>
            <a:r>
              <a:rPr sz="1400" dirty="0" err="1"/>
              <a:t>بلدي</a:t>
            </a:r>
            <a:r>
              <a:rPr sz="1400" dirty="0"/>
              <a:t> </a:t>
            </a:r>
            <a:r>
              <a:rPr sz="1400" dirty="0" err="1"/>
              <a:t>ريادي</a:t>
            </a:r>
            <a:r>
              <a:rPr sz="1400" dirty="0"/>
              <a:t> </a:t>
            </a:r>
            <a:r>
              <a:rPr sz="1400" dirty="0" err="1"/>
              <a:t>يقتدى</a:t>
            </a:r>
            <a:r>
              <a:rPr sz="1400" dirty="0"/>
              <a:t> </a:t>
            </a:r>
            <a:r>
              <a:rPr sz="1400" dirty="0" err="1"/>
              <a:t>به</a:t>
            </a:r>
            <a:r>
              <a:rPr sz="1400" dirty="0"/>
              <a:t> </a:t>
            </a:r>
            <a:r>
              <a:rPr sz="1400" dirty="0" err="1"/>
              <a:t>في</a:t>
            </a:r>
            <a:r>
              <a:rPr sz="1400" dirty="0"/>
              <a:t> </a:t>
            </a:r>
            <a:r>
              <a:rPr sz="1400" dirty="0" err="1"/>
              <a:t>المحافظة</a:t>
            </a:r>
            <a:r>
              <a:rPr sz="1400" dirty="0"/>
              <a:t> </a:t>
            </a:r>
            <a:r>
              <a:rPr sz="1400" dirty="0" err="1"/>
              <a:t>والوطن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1">
                <a:solidFill>
                  <a:srgbClr val="1E6F50"/>
                </a:solidFill>
                <a:latin typeface="Arial"/>
              </a:defRPr>
            </a:pPr>
            <a:r>
              <a:t>بلدية بدنايل | بوابة التحول الرقمي والحكومة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400" b="1">
                <a:solidFill>
                  <a:srgbClr val="0F2942"/>
                </a:solidFill>
                <a:latin typeface="Arial"/>
              </a:defRPr>
            </a:pPr>
            <a:r>
              <a:t>دراسة تكاليف الاستضافة السحابية والتشغيل بالتفصيل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000" b="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5 من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 rtl="1">
              <a:defRPr sz="1100" b="0">
                <a:solidFill>
                  <a:srgbClr val="0F2942"/>
                </a:solidFill>
                <a:latin typeface="Arial"/>
              </a:defRPr>
            </a:pPr>
            <a:r>
              <a:t>💡 متطلبات تشغيل النظام: واجهة تفاعلية (React Vite) + خادم خلفي برمجيات (Node.js/Express) + قاعدة بيانات علائقية (MySQL) + مساحة تخزين للصور والمرفقات (Media Storage). النظام مصمم بكفاءة عالية ليعمل بأقل تكلفة ممكنة.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521208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5212080" cy="7772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 rtl="1">
              <a:defRPr sz="1250" b="1">
                <a:solidFill>
                  <a:srgbClr val="FFFFFF"/>
                </a:solidFill>
                <a:latin typeface="Arial"/>
              </a:defRPr>
            </a:pPr>
            <a:r>
              <a:t>الخيار الأول (الموصى به): خادم سحابي خاص (Cloud VPS)</a:t>
            </a:r>
          </a:p>
          <a:p>
            <a:pPr algn="r" rtl="1">
              <a:defRPr sz="950" b="0">
                <a:solidFill>
                  <a:srgbClr val="D4A017"/>
                </a:solidFill>
                <a:latin typeface="Arial"/>
              </a:defRPr>
            </a:pPr>
            <a:r>
              <a:t>خادم افتراضي مستقل فائق السرعة والموثوقية (Hetzner / Hostinger VPS)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49377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المعالج</a:t>
            </a:r>
            <a:r>
              <a:rPr sz="1400" dirty="0"/>
              <a:t> </a:t>
            </a:r>
            <a:r>
              <a:rPr sz="1400" dirty="0" err="1"/>
              <a:t>والذاكرة</a:t>
            </a:r>
            <a:r>
              <a:rPr sz="1400" dirty="0"/>
              <a:t>: 2 vCPU Cores </a:t>
            </a:r>
            <a:r>
              <a:rPr sz="1400" dirty="0" err="1"/>
              <a:t>مع</a:t>
            </a:r>
            <a:r>
              <a:rPr sz="1400" dirty="0"/>
              <a:t> 4 GB RAM (</a:t>
            </a:r>
            <a:r>
              <a:rPr sz="1400" dirty="0" err="1"/>
              <a:t>كافية</a:t>
            </a:r>
            <a:r>
              <a:rPr sz="1400" dirty="0"/>
              <a:t> </a:t>
            </a:r>
            <a:r>
              <a:rPr sz="1400" dirty="0" err="1"/>
              <a:t>لآلاف</a:t>
            </a:r>
            <a:r>
              <a:rPr sz="1400" dirty="0"/>
              <a:t> </a:t>
            </a:r>
            <a:r>
              <a:rPr sz="1400" dirty="0" err="1"/>
              <a:t>الزوار</a:t>
            </a:r>
            <a:r>
              <a:rPr sz="1400" dirty="0"/>
              <a:t> </a:t>
            </a:r>
            <a:r>
              <a:rPr sz="1400" dirty="0" err="1"/>
              <a:t>يومياً</a:t>
            </a:r>
            <a:r>
              <a:rPr sz="1400" dirty="0"/>
              <a:t>)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التخزين</a:t>
            </a:r>
            <a:r>
              <a:rPr sz="1400" dirty="0"/>
              <a:t> </a:t>
            </a:r>
            <a:r>
              <a:rPr sz="1400" dirty="0" err="1"/>
              <a:t>والسرعة</a:t>
            </a:r>
            <a:r>
              <a:rPr sz="1400" dirty="0"/>
              <a:t>: 50 GB </a:t>
            </a:r>
            <a:r>
              <a:rPr sz="1400" dirty="0" err="1"/>
              <a:t>إلى</a:t>
            </a:r>
            <a:r>
              <a:rPr sz="1400" dirty="0"/>
              <a:t> 80 GB </a:t>
            </a:r>
            <a:r>
              <a:rPr sz="1400" dirty="0" err="1"/>
              <a:t>NVMe</a:t>
            </a:r>
            <a:r>
              <a:rPr sz="1400" dirty="0"/>
              <a:t> SSD </a:t>
            </a:r>
            <a:r>
              <a:rPr sz="1400" dirty="0" err="1"/>
              <a:t>فائق</a:t>
            </a:r>
            <a:r>
              <a:rPr sz="1400" dirty="0"/>
              <a:t> </a:t>
            </a:r>
            <a:r>
              <a:rPr sz="1400" dirty="0" err="1"/>
              <a:t>السرعة</a:t>
            </a:r>
            <a:endParaRPr sz="1400" dirty="0"/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حركة</a:t>
            </a:r>
            <a:r>
              <a:rPr sz="1400" dirty="0"/>
              <a:t> </a:t>
            </a:r>
            <a:r>
              <a:rPr sz="1400" dirty="0" err="1"/>
              <a:t>البيانات</a:t>
            </a:r>
            <a:r>
              <a:rPr sz="1400" dirty="0"/>
              <a:t> (Traffic): </a:t>
            </a:r>
            <a:r>
              <a:rPr sz="1400" dirty="0" err="1"/>
              <a:t>غير</a:t>
            </a:r>
            <a:r>
              <a:rPr sz="1400" dirty="0"/>
              <a:t> </a:t>
            </a:r>
            <a:r>
              <a:rPr sz="1400" dirty="0" err="1"/>
              <a:t>محدودة</a:t>
            </a:r>
            <a:r>
              <a:rPr sz="1400" dirty="0"/>
              <a:t> / 20 TB </a:t>
            </a:r>
            <a:r>
              <a:rPr sz="1400" dirty="0" err="1"/>
              <a:t>شهرياً</a:t>
            </a:r>
            <a:r>
              <a:rPr sz="1400" dirty="0"/>
              <a:t> </a:t>
            </a:r>
            <a:r>
              <a:rPr sz="1400" dirty="0" err="1"/>
              <a:t>بسعة</a:t>
            </a:r>
            <a:r>
              <a:rPr sz="1400" dirty="0"/>
              <a:t> </a:t>
            </a:r>
            <a:r>
              <a:rPr sz="1400" dirty="0" err="1"/>
              <a:t>شبكة</a:t>
            </a:r>
            <a:r>
              <a:rPr sz="1400" dirty="0"/>
              <a:t> 1 Gbps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قاعدة</a:t>
            </a:r>
            <a:r>
              <a:rPr sz="1400" dirty="0"/>
              <a:t> </a:t>
            </a:r>
            <a:r>
              <a:rPr sz="1400" dirty="0" err="1"/>
              <a:t>البيانات</a:t>
            </a:r>
            <a:r>
              <a:rPr sz="1400" dirty="0"/>
              <a:t>: MySQL </a:t>
            </a:r>
            <a:r>
              <a:rPr sz="1400" dirty="0" err="1"/>
              <a:t>مدمجة</a:t>
            </a:r>
            <a:r>
              <a:rPr sz="1400" dirty="0"/>
              <a:t> </a:t>
            </a:r>
            <a:r>
              <a:rPr sz="1400" dirty="0" err="1"/>
              <a:t>مع</a:t>
            </a:r>
            <a:r>
              <a:rPr sz="1400" dirty="0"/>
              <a:t> </a:t>
            </a:r>
            <a:r>
              <a:rPr sz="1400" dirty="0" err="1"/>
              <a:t>نظام</a:t>
            </a:r>
            <a:r>
              <a:rPr sz="1400" dirty="0"/>
              <a:t> </a:t>
            </a:r>
            <a:r>
              <a:rPr sz="1400" dirty="0" err="1"/>
              <a:t>عزل</a:t>
            </a:r>
            <a:r>
              <a:rPr sz="1400" dirty="0"/>
              <a:t> </a:t>
            </a:r>
            <a:r>
              <a:rPr sz="1400" dirty="0" err="1"/>
              <a:t>أمني</a:t>
            </a:r>
            <a:r>
              <a:rPr sz="1400" dirty="0"/>
              <a:t> </a:t>
            </a:r>
            <a:r>
              <a:rPr sz="1400" dirty="0" err="1"/>
              <a:t>وجدار</a:t>
            </a:r>
            <a:r>
              <a:rPr sz="1400" dirty="0"/>
              <a:t> </a:t>
            </a:r>
            <a:r>
              <a:rPr sz="1400" dirty="0" err="1"/>
              <a:t>ناري</a:t>
            </a:r>
            <a:r>
              <a:rPr sz="1400" dirty="0"/>
              <a:t> </a:t>
            </a:r>
            <a:r>
              <a:rPr sz="1400" dirty="0" err="1"/>
              <a:t>متطور</a:t>
            </a:r>
            <a:endParaRPr sz="1400" dirty="0"/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النسخ</a:t>
            </a:r>
            <a:r>
              <a:rPr sz="1400" dirty="0"/>
              <a:t> </a:t>
            </a:r>
            <a:r>
              <a:rPr sz="1400" dirty="0" err="1"/>
              <a:t>الاحتياطي</a:t>
            </a:r>
            <a:r>
              <a:rPr sz="1400" dirty="0"/>
              <a:t>: </a:t>
            </a:r>
            <a:r>
              <a:rPr sz="1400" dirty="0" err="1"/>
              <a:t>نسخ</a:t>
            </a:r>
            <a:r>
              <a:rPr sz="1400" dirty="0"/>
              <a:t> </a:t>
            </a:r>
            <a:r>
              <a:rPr sz="1400" dirty="0" err="1"/>
              <a:t>احتياطي</a:t>
            </a:r>
            <a:r>
              <a:rPr sz="1400" dirty="0"/>
              <a:t> </a:t>
            </a:r>
            <a:r>
              <a:rPr sz="1400" dirty="0" err="1"/>
              <a:t>أسبوعي</a:t>
            </a:r>
            <a:r>
              <a:rPr sz="1400" dirty="0"/>
              <a:t> </a:t>
            </a:r>
            <a:r>
              <a:rPr sz="1400" dirty="0" err="1"/>
              <a:t>تلقائي</a:t>
            </a:r>
            <a:r>
              <a:rPr sz="1400" dirty="0"/>
              <a:t> </a:t>
            </a:r>
            <a:r>
              <a:rPr sz="1400" dirty="0" err="1"/>
              <a:t>لضمان</a:t>
            </a:r>
            <a:r>
              <a:rPr sz="1400" dirty="0"/>
              <a:t> </a:t>
            </a:r>
            <a:r>
              <a:rPr sz="1400" dirty="0" err="1"/>
              <a:t>عدم</a:t>
            </a:r>
            <a:r>
              <a:rPr sz="1400" dirty="0"/>
              <a:t> </a:t>
            </a:r>
            <a:r>
              <a:rPr sz="1400" dirty="0" err="1"/>
              <a:t>ضياع</a:t>
            </a:r>
            <a:r>
              <a:rPr sz="1400" dirty="0"/>
              <a:t> </a:t>
            </a:r>
            <a:r>
              <a:rPr sz="1400" dirty="0" err="1"/>
              <a:t>أي</a:t>
            </a:r>
            <a:r>
              <a:rPr sz="1400" dirty="0"/>
              <a:t> </a:t>
            </a:r>
            <a:r>
              <a:rPr sz="1400" dirty="0" err="1"/>
              <a:t>بيانات</a:t>
            </a:r>
            <a:endParaRPr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914400" y="5394960"/>
            <a:ext cx="4846320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150" b="1">
                <a:solidFill>
                  <a:srgbClr val="1E6F50"/>
                </a:solidFill>
                <a:latin typeface="Arial"/>
              </a:defRPr>
            </a:pPr>
            <a:r>
              <a:t>التكلفة الشهرية: $7.00 - $10.00 شهرياً  |  الإجمالي السنوي: $84 - $120 سنوياً فقط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514600"/>
            <a:ext cx="521208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2514600"/>
            <a:ext cx="5212080" cy="777240"/>
          </a:xfrm>
          <a:prstGeom prst="rect">
            <a:avLst/>
          </a:prstGeom>
          <a:solidFill>
            <a:srgbClr val="28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 rtl="1">
              <a:defRPr sz="1250" b="1">
                <a:solidFill>
                  <a:srgbClr val="FFFFFF"/>
                </a:solidFill>
                <a:latin typeface="Arial"/>
              </a:defRPr>
            </a:pPr>
            <a:r>
              <a:t>الخيار الثاني: الاستضافة المدارة / الموزعة (Decoupled Cloud)</a:t>
            </a:r>
          </a:p>
          <a:p>
            <a:pPr algn="r" rtl="1">
              <a:defRPr sz="950" b="0">
                <a:solidFill>
                  <a:srgbClr val="D4A017"/>
                </a:solidFill>
                <a:latin typeface="Arial"/>
              </a:defRPr>
            </a:pPr>
            <a:r>
              <a:t>فصل الواجهة عن السيرفر (Cloudflare Pages + Railway/Render)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383280"/>
            <a:ext cx="49377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الواجهة</a:t>
            </a:r>
            <a:r>
              <a:rPr sz="1400" dirty="0"/>
              <a:t> </a:t>
            </a:r>
            <a:r>
              <a:rPr sz="1400" dirty="0" err="1"/>
              <a:t>الأمامية</a:t>
            </a:r>
            <a:r>
              <a:rPr sz="1400" dirty="0"/>
              <a:t> (Frontend): Cloudflare Pages </a:t>
            </a:r>
            <a:r>
              <a:rPr sz="1400" dirty="0" err="1"/>
              <a:t>أو</a:t>
            </a:r>
            <a:r>
              <a:rPr sz="1400" dirty="0"/>
              <a:t> </a:t>
            </a:r>
            <a:r>
              <a:rPr sz="1400" dirty="0" err="1"/>
              <a:t>Vercel</a:t>
            </a:r>
            <a:r>
              <a:rPr sz="1400" dirty="0"/>
              <a:t> (</a:t>
            </a:r>
            <a:r>
              <a:rPr sz="1400" dirty="0" err="1"/>
              <a:t>مجاني</a:t>
            </a:r>
            <a:r>
              <a:rPr sz="1400" dirty="0"/>
              <a:t> 100%)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الخادم</a:t>
            </a:r>
            <a:r>
              <a:rPr sz="1400" dirty="0"/>
              <a:t> </a:t>
            </a:r>
            <a:r>
              <a:rPr sz="1400" dirty="0" err="1"/>
              <a:t>الخلفي</a:t>
            </a:r>
            <a:r>
              <a:rPr sz="1400" dirty="0"/>
              <a:t> (Backend API): Node.js Container </a:t>
            </a:r>
            <a:r>
              <a:rPr sz="1400" dirty="0" err="1"/>
              <a:t>على</a:t>
            </a:r>
            <a:r>
              <a:rPr sz="1400" dirty="0"/>
              <a:t> Railway </a:t>
            </a:r>
            <a:r>
              <a:rPr sz="1400" dirty="0" err="1"/>
              <a:t>أو</a:t>
            </a:r>
            <a:r>
              <a:rPr sz="1400" dirty="0"/>
              <a:t> Render ($5 - $7 / </a:t>
            </a:r>
            <a:r>
              <a:rPr sz="1400" dirty="0" err="1"/>
              <a:t>شهر</a:t>
            </a:r>
            <a:r>
              <a:rPr sz="1400" dirty="0"/>
              <a:t>)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قاعدة</a:t>
            </a:r>
            <a:r>
              <a:rPr sz="1400" dirty="0"/>
              <a:t> </a:t>
            </a:r>
            <a:r>
              <a:rPr sz="1400" dirty="0" err="1"/>
              <a:t>البيانات</a:t>
            </a:r>
            <a:r>
              <a:rPr sz="1400" dirty="0"/>
              <a:t> (Managed DB): MySQL Database </a:t>
            </a:r>
            <a:r>
              <a:rPr sz="1400" dirty="0" err="1"/>
              <a:t>مساحة</a:t>
            </a:r>
            <a:r>
              <a:rPr sz="1400" dirty="0"/>
              <a:t> 5-10 GB ($5 / </a:t>
            </a:r>
            <a:r>
              <a:rPr sz="1400" dirty="0" err="1"/>
              <a:t>شهر</a:t>
            </a:r>
            <a:r>
              <a:rPr sz="1400" dirty="0"/>
              <a:t>)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تخزين</a:t>
            </a:r>
            <a:r>
              <a:rPr sz="1400" dirty="0"/>
              <a:t> </a:t>
            </a:r>
            <a:r>
              <a:rPr sz="1400" dirty="0" err="1"/>
              <a:t>الصور</a:t>
            </a:r>
            <a:r>
              <a:rPr sz="1400" dirty="0"/>
              <a:t> </a:t>
            </a:r>
            <a:r>
              <a:rPr sz="1400" dirty="0" err="1"/>
              <a:t>المرفقة</a:t>
            </a:r>
            <a:r>
              <a:rPr sz="1400" dirty="0"/>
              <a:t>: Cloudflare R2 Object Storage (</a:t>
            </a:r>
            <a:r>
              <a:rPr sz="1400" dirty="0" err="1"/>
              <a:t>مجاني</a:t>
            </a:r>
            <a:r>
              <a:rPr sz="1400" dirty="0"/>
              <a:t> </a:t>
            </a:r>
            <a:r>
              <a:rPr sz="1400" dirty="0" err="1"/>
              <a:t>لغاية</a:t>
            </a:r>
            <a:r>
              <a:rPr sz="1400" dirty="0"/>
              <a:t> 10GB)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الصيانة</a:t>
            </a:r>
            <a:r>
              <a:rPr sz="1400" dirty="0"/>
              <a:t> </a:t>
            </a:r>
            <a:r>
              <a:rPr sz="1400" dirty="0" err="1"/>
              <a:t>والتحديثات</a:t>
            </a:r>
            <a:r>
              <a:rPr sz="1400" dirty="0"/>
              <a:t>: </a:t>
            </a:r>
            <a:r>
              <a:rPr sz="1400" dirty="0" err="1"/>
              <a:t>إدارة</a:t>
            </a:r>
            <a:r>
              <a:rPr sz="1400" dirty="0"/>
              <a:t> </a:t>
            </a:r>
            <a:r>
              <a:rPr sz="1400" dirty="0" err="1"/>
              <a:t>تلقائية</a:t>
            </a:r>
            <a:r>
              <a:rPr sz="1400" dirty="0"/>
              <a:t> </a:t>
            </a:r>
            <a:r>
              <a:rPr sz="1400" dirty="0" err="1"/>
              <a:t>للسيرفر</a:t>
            </a:r>
            <a:r>
              <a:rPr sz="1400" dirty="0"/>
              <a:t> </a:t>
            </a:r>
            <a:r>
              <a:rPr sz="1400" dirty="0" err="1"/>
              <a:t>بدون</a:t>
            </a:r>
            <a:r>
              <a:rPr sz="1400" dirty="0"/>
              <a:t> </a:t>
            </a:r>
            <a:r>
              <a:rPr sz="1400" dirty="0" err="1"/>
              <a:t>تدخل</a:t>
            </a:r>
            <a:r>
              <a:rPr sz="1400" dirty="0"/>
              <a:t> </a:t>
            </a:r>
            <a:r>
              <a:rPr sz="1400" dirty="0" err="1"/>
              <a:t>يدوي</a:t>
            </a:r>
            <a:r>
              <a:rPr sz="1400" dirty="0"/>
              <a:t> </a:t>
            </a:r>
            <a:r>
              <a:rPr sz="1400" dirty="0" err="1"/>
              <a:t>في</a:t>
            </a:r>
            <a:r>
              <a:rPr sz="1400" dirty="0"/>
              <a:t> </a:t>
            </a:r>
            <a:r>
              <a:rPr sz="1400" dirty="0" err="1"/>
              <a:t>النظام</a:t>
            </a:r>
            <a:endParaRPr sz="1400" dirty="0"/>
          </a:p>
        </p:txBody>
      </p:sp>
      <p:sp>
        <p:nvSpPr>
          <p:cNvPr id="16" name="Rounded Rectangle 15"/>
          <p:cNvSpPr/>
          <p:nvPr/>
        </p:nvSpPr>
        <p:spPr>
          <a:xfrm>
            <a:off x="6428232" y="5394960"/>
            <a:ext cx="484632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150" b="1">
                <a:solidFill>
                  <a:srgbClr val="0F2942"/>
                </a:solidFill>
                <a:latin typeface="Arial"/>
              </a:defRPr>
            </a:pPr>
            <a:r>
              <a:t>التكلفة الشهرية: $10.00 - $14.00 شهرياً  |  الإجمالي السنوي: $120 - $168 سنوياً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1">
                <a:solidFill>
                  <a:srgbClr val="1E6F50"/>
                </a:solidFill>
                <a:latin typeface="Arial"/>
              </a:defRPr>
            </a:pPr>
            <a:r>
              <a:t>بلدية بدنايل | بوابة التحول الرقمي والحكومة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400" b="1">
                <a:solidFill>
                  <a:srgbClr val="0F2942"/>
                </a:solidFill>
                <a:latin typeface="Arial"/>
              </a:defRPr>
            </a:pPr>
            <a:r>
              <a:t>خدمة واشتراك Twilio للتحقق بالرسائل النصية والواتساب (SMS / WhatsApp OTP)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000" b="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6 من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77724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22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 rtl="1">
              <a:defRPr sz="1100" b="0">
                <a:solidFill>
                  <a:srgbClr val="9F1239"/>
                </a:solidFill>
                <a:latin typeface="Arial"/>
              </a:defRPr>
            </a:pPr>
            <a:r>
              <a:t>📲 دور خدمة Twilio في المنصة: تفعيل أرقام هواتف المواطنين اللبنانية عبر إرسال رمز تحقق سري من 6 أرقام (OTP)، منع إنشاء الحسابات الوهمية، وإرسال إشعارات فورية بمستجدات الشكاوى والمواعيد البلدية عبر SMS وWhatsApp.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676656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6766560" cy="50292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defRPr sz="1300" b="1">
                <a:solidFill>
                  <a:srgbClr val="FFFFFF"/>
                </a:solidFill>
                <a:latin typeface="Arial"/>
              </a:defRPr>
            </a:pPr>
            <a:r>
              <a:t>⚙️ مجالات استخدام Twilio في المنصة البلدية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6400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🔸 </a:t>
            </a:r>
            <a:r>
              <a:rPr sz="1400" dirty="0" err="1"/>
              <a:t>تفعيل</a:t>
            </a:r>
            <a:r>
              <a:rPr sz="1400" dirty="0"/>
              <a:t> </a:t>
            </a:r>
            <a:r>
              <a:rPr sz="1400" dirty="0" err="1"/>
              <a:t>الحسابات</a:t>
            </a:r>
            <a:r>
              <a:rPr sz="1400" dirty="0"/>
              <a:t> </a:t>
            </a:r>
            <a:r>
              <a:rPr sz="1400" dirty="0" err="1"/>
              <a:t>الجديدة</a:t>
            </a:r>
            <a:r>
              <a:rPr sz="1400" dirty="0"/>
              <a:t> (Account Verification): </a:t>
            </a:r>
            <a:r>
              <a:rPr sz="1400" dirty="0" err="1"/>
              <a:t>إرسال</a:t>
            </a:r>
            <a:r>
              <a:rPr sz="1400" dirty="0"/>
              <a:t> </a:t>
            </a:r>
            <a:r>
              <a:rPr sz="1400" dirty="0" err="1"/>
              <a:t>رمز</a:t>
            </a:r>
            <a:r>
              <a:rPr sz="1400" dirty="0"/>
              <a:t> </a:t>
            </a:r>
            <a:r>
              <a:rPr sz="1400" dirty="0" err="1"/>
              <a:t>تحقق</a:t>
            </a:r>
            <a:r>
              <a:rPr sz="1400" dirty="0"/>
              <a:t> </a:t>
            </a:r>
            <a:r>
              <a:rPr sz="1400" dirty="0" err="1"/>
              <a:t>مؤقت</a:t>
            </a:r>
            <a:r>
              <a:rPr sz="1400" dirty="0"/>
              <a:t> (OTP) </a:t>
            </a:r>
            <a:r>
              <a:rPr sz="1400" dirty="0" err="1"/>
              <a:t>إلى</a:t>
            </a:r>
            <a:r>
              <a:rPr sz="1400" dirty="0"/>
              <a:t> </a:t>
            </a:r>
            <a:r>
              <a:rPr sz="1400" dirty="0" err="1"/>
              <a:t>هاتف</a:t>
            </a:r>
            <a:r>
              <a:rPr sz="1400" dirty="0"/>
              <a:t> </a:t>
            </a:r>
            <a:r>
              <a:rPr sz="1400" dirty="0" err="1"/>
              <a:t>المواطن</a:t>
            </a:r>
            <a:r>
              <a:rPr sz="1400" dirty="0"/>
              <a:t> </a:t>
            </a:r>
            <a:r>
              <a:rPr sz="1400" dirty="0" err="1"/>
              <a:t>عند</a:t>
            </a:r>
            <a:r>
              <a:rPr sz="1400" dirty="0"/>
              <a:t> </a:t>
            </a:r>
            <a:r>
              <a:rPr sz="1400" dirty="0" err="1"/>
              <a:t>التسجيل</a:t>
            </a:r>
            <a:r>
              <a:rPr sz="1400" dirty="0"/>
              <a:t> </a:t>
            </a:r>
            <a:r>
              <a:rPr sz="1400" dirty="0" err="1"/>
              <a:t>للتأكد</a:t>
            </a:r>
            <a:r>
              <a:rPr sz="1400" dirty="0"/>
              <a:t> </a:t>
            </a:r>
            <a:r>
              <a:rPr sz="1400" dirty="0" err="1"/>
              <a:t>من</a:t>
            </a:r>
            <a:r>
              <a:rPr sz="1400" dirty="0"/>
              <a:t> </a:t>
            </a:r>
            <a:r>
              <a:rPr sz="1400" dirty="0" err="1"/>
              <a:t>هويته</a:t>
            </a:r>
            <a:r>
              <a:rPr sz="1400" dirty="0"/>
              <a:t> </a:t>
            </a:r>
            <a:r>
              <a:rPr sz="1400" dirty="0" err="1"/>
              <a:t>ومطابقة</a:t>
            </a:r>
            <a:r>
              <a:rPr sz="1400" dirty="0"/>
              <a:t> </a:t>
            </a:r>
            <a:r>
              <a:rPr sz="1400" dirty="0" err="1"/>
              <a:t>رقمه</a:t>
            </a:r>
            <a:r>
              <a:rPr sz="1400" dirty="0"/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🔸 </a:t>
            </a:r>
            <a:r>
              <a:rPr sz="1400" dirty="0" err="1"/>
              <a:t>استعادة</a:t>
            </a:r>
            <a:r>
              <a:rPr sz="1400" dirty="0"/>
              <a:t> </a:t>
            </a:r>
            <a:r>
              <a:rPr sz="1400" dirty="0" err="1"/>
              <a:t>كلمات</a:t>
            </a:r>
            <a:r>
              <a:rPr sz="1400" dirty="0"/>
              <a:t> </a:t>
            </a:r>
            <a:r>
              <a:rPr sz="1400" dirty="0" err="1"/>
              <a:t>المرور</a:t>
            </a:r>
            <a:r>
              <a:rPr sz="1400" dirty="0"/>
              <a:t> </a:t>
            </a:r>
            <a:r>
              <a:rPr sz="1400" dirty="0" err="1"/>
              <a:t>المنسية</a:t>
            </a:r>
            <a:r>
              <a:rPr sz="1400" dirty="0"/>
              <a:t> (Password Reset): </a:t>
            </a:r>
            <a:r>
              <a:rPr sz="1400" dirty="0" err="1"/>
              <a:t>إرسال</a:t>
            </a:r>
            <a:r>
              <a:rPr sz="1400" dirty="0"/>
              <a:t> </a:t>
            </a:r>
            <a:r>
              <a:rPr sz="1400" dirty="0" err="1"/>
              <a:t>رابط</a:t>
            </a:r>
            <a:r>
              <a:rPr sz="1400" dirty="0"/>
              <a:t> </a:t>
            </a:r>
            <a:r>
              <a:rPr sz="1400" dirty="0" err="1"/>
              <a:t>آمن</a:t>
            </a:r>
            <a:r>
              <a:rPr sz="1400" dirty="0"/>
              <a:t> </a:t>
            </a:r>
            <a:r>
              <a:rPr sz="1400" dirty="0" err="1"/>
              <a:t>أو</a:t>
            </a:r>
            <a:r>
              <a:rPr sz="1400" dirty="0"/>
              <a:t> </a:t>
            </a:r>
            <a:r>
              <a:rPr sz="1400" dirty="0" err="1"/>
              <a:t>رمز</a:t>
            </a:r>
            <a:r>
              <a:rPr sz="1400" dirty="0"/>
              <a:t> </a:t>
            </a:r>
            <a:r>
              <a:rPr sz="1400" dirty="0" err="1"/>
              <a:t>استرجاع</a:t>
            </a:r>
            <a:r>
              <a:rPr sz="1400" dirty="0"/>
              <a:t> </a:t>
            </a:r>
            <a:r>
              <a:rPr sz="1400" dirty="0" err="1"/>
              <a:t>لهاتف</a:t>
            </a:r>
            <a:r>
              <a:rPr sz="1400" dirty="0"/>
              <a:t> </a:t>
            </a:r>
            <a:r>
              <a:rPr sz="1400" dirty="0" err="1"/>
              <a:t>المواطن</a:t>
            </a:r>
            <a:r>
              <a:rPr sz="1400" dirty="0"/>
              <a:t> </a:t>
            </a:r>
            <a:r>
              <a:rPr sz="1400" dirty="0" err="1"/>
              <a:t>المسجل</a:t>
            </a:r>
            <a:r>
              <a:rPr sz="1400" dirty="0"/>
              <a:t> </a:t>
            </a:r>
            <a:r>
              <a:rPr sz="1400" dirty="0" err="1"/>
              <a:t>لمنع</a:t>
            </a:r>
            <a:r>
              <a:rPr sz="1400" dirty="0"/>
              <a:t> </a:t>
            </a:r>
            <a:r>
              <a:rPr sz="1400" dirty="0" err="1"/>
              <a:t>اختراق</a:t>
            </a:r>
            <a:r>
              <a:rPr sz="1400" dirty="0"/>
              <a:t> </a:t>
            </a:r>
            <a:r>
              <a:rPr sz="1400" dirty="0" err="1"/>
              <a:t>الحسابات</a:t>
            </a:r>
            <a:r>
              <a:rPr sz="1400" dirty="0"/>
              <a:t> </a:t>
            </a:r>
            <a:r>
              <a:rPr sz="1400" dirty="0" err="1"/>
              <a:t>الشخصية</a:t>
            </a:r>
            <a:r>
              <a:rPr sz="1400" dirty="0"/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🔸 </a:t>
            </a:r>
            <a:r>
              <a:rPr sz="1400" dirty="0" err="1"/>
              <a:t>إشعارات</a:t>
            </a:r>
            <a:r>
              <a:rPr sz="1400" dirty="0"/>
              <a:t> </a:t>
            </a:r>
            <a:r>
              <a:rPr sz="1400" dirty="0" err="1"/>
              <a:t>المواعيد</a:t>
            </a:r>
            <a:r>
              <a:rPr sz="1400" dirty="0"/>
              <a:t> </a:t>
            </a:r>
            <a:r>
              <a:rPr sz="1400" dirty="0" err="1"/>
              <a:t>الرسمية</a:t>
            </a:r>
            <a:r>
              <a:rPr sz="1400" dirty="0"/>
              <a:t> (Appointment Alerts): </a:t>
            </a:r>
            <a:r>
              <a:rPr sz="1400" dirty="0" err="1"/>
              <a:t>تأكيد</a:t>
            </a:r>
            <a:r>
              <a:rPr sz="1400" dirty="0"/>
              <a:t> </a:t>
            </a:r>
            <a:r>
              <a:rPr sz="1400" dirty="0" err="1"/>
              <a:t>موعد</a:t>
            </a:r>
            <a:r>
              <a:rPr sz="1400" dirty="0"/>
              <a:t> </a:t>
            </a:r>
            <a:r>
              <a:rPr sz="1400" dirty="0" err="1"/>
              <a:t>المواطن</a:t>
            </a:r>
            <a:r>
              <a:rPr sz="1400" dirty="0"/>
              <a:t> </a:t>
            </a:r>
            <a:r>
              <a:rPr sz="1400" dirty="0" err="1"/>
              <a:t>لدى</a:t>
            </a:r>
            <a:r>
              <a:rPr sz="1400" dirty="0"/>
              <a:t> </a:t>
            </a:r>
            <a:r>
              <a:rPr sz="1400" dirty="0" err="1"/>
              <a:t>البلدية</a:t>
            </a:r>
            <a:r>
              <a:rPr sz="1400" dirty="0"/>
              <a:t> </a:t>
            </a:r>
            <a:r>
              <a:rPr sz="1400" dirty="0" err="1"/>
              <a:t>وتذكيره</a:t>
            </a:r>
            <a:r>
              <a:rPr sz="1400" dirty="0"/>
              <a:t> </a:t>
            </a:r>
            <a:r>
              <a:rPr sz="1400" dirty="0" err="1"/>
              <a:t>قبل</a:t>
            </a:r>
            <a:r>
              <a:rPr sz="1400" dirty="0"/>
              <a:t> </a:t>
            </a:r>
            <a:r>
              <a:rPr sz="1400" dirty="0" err="1"/>
              <a:t>الموعد</a:t>
            </a:r>
            <a:r>
              <a:rPr sz="1400" dirty="0"/>
              <a:t> </a:t>
            </a:r>
            <a:r>
              <a:rPr sz="1400" dirty="0" err="1"/>
              <a:t>بيوم</a:t>
            </a:r>
            <a:r>
              <a:rPr sz="1400" dirty="0"/>
              <a:t> </a:t>
            </a:r>
            <a:r>
              <a:rPr sz="1400" dirty="0" err="1"/>
              <a:t>واحد</a:t>
            </a:r>
            <a:r>
              <a:rPr sz="1400" dirty="0"/>
              <a:t> </a:t>
            </a:r>
            <a:r>
              <a:rPr sz="1400" dirty="0" err="1"/>
              <a:t>لتقليل</a:t>
            </a:r>
            <a:r>
              <a:rPr sz="1400" dirty="0"/>
              <a:t> </a:t>
            </a:r>
            <a:r>
              <a:rPr sz="1400" dirty="0" err="1"/>
              <a:t>التخلف</a:t>
            </a:r>
            <a:r>
              <a:rPr sz="1400" dirty="0"/>
              <a:t> </a:t>
            </a:r>
            <a:r>
              <a:rPr sz="1400" dirty="0" err="1"/>
              <a:t>عن</a:t>
            </a:r>
            <a:r>
              <a:rPr sz="1400" dirty="0"/>
              <a:t> </a:t>
            </a:r>
            <a:r>
              <a:rPr sz="1400" dirty="0" err="1"/>
              <a:t>الحضور</a:t>
            </a:r>
            <a:r>
              <a:rPr sz="1400" dirty="0"/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🔸 </a:t>
            </a:r>
            <a:r>
              <a:rPr sz="1400" dirty="0" err="1"/>
              <a:t>متابعة</a:t>
            </a:r>
            <a:r>
              <a:rPr sz="1400" dirty="0"/>
              <a:t> </a:t>
            </a:r>
            <a:r>
              <a:rPr sz="1400" dirty="0" err="1"/>
              <a:t>مسار</a:t>
            </a:r>
            <a:r>
              <a:rPr sz="1400" dirty="0"/>
              <a:t> </a:t>
            </a:r>
            <a:r>
              <a:rPr sz="1400" dirty="0" err="1"/>
              <a:t>الشكاوى</a:t>
            </a:r>
            <a:r>
              <a:rPr sz="1400" dirty="0"/>
              <a:t> (Complaint Updates): </a:t>
            </a:r>
            <a:r>
              <a:rPr sz="1400" dirty="0" err="1"/>
              <a:t>إشعار</a:t>
            </a:r>
            <a:r>
              <a:rPr sz="1400" dirty="0"/>
              <a:t> </a:t>
            </a:r>
            <a:r>
              <a:rPr sz="1400" dirty="0" err="1"/>
              <a:t>المواطن</a:t>
            </a:r>
            <a:r>
              <a:rPr sz="1400" dirty="0"/>
              <a:t> </a:t>
            </a:r>
            <a:r>
              <a:rPr sz="1400" dirty="0" err="1"/>
              <a:t>برسالة</a:t>
            </a:r>
            <a:r>
              <a:rPr sz="1400" dirty="0"/>
              <a:t> </a:t>
            </a:r>
            <a:r>
              <a:rPr sz="1400" dirty="0" err="1"/>
              <a:t>تفيد</a:t>
            </a:r>
            <a:r>
              <a:rPr sz="1400" dirty="0"/>
              <a:t> </a:t>
            </a:r>
            <a:r>
              <a:rPr sz="1400" dirty="0" err="1"/>
              <a:t>ببدء</a:t>
            </a:r>
            <a:r>
              <a:rPr sz="1400" dirty="0"/>
              <a:t> </a:t>
            </a:r>
            <a:r>
              <a:rPr sz="1400" dirty="0" err="1"/>
              <a:t>معالجة</a:t>
            </a:r>
            <a:r>
              <a:rPr sz="1400" dirty="0"/>
              <a:t> </a:t>
            </a:r>
            <a:r>
              <a:rPr sz="1400" dirty="0" err="1"/>
              <a:t>شكواه</a:t>
            </a:r>
            <a:r>
              <a:rPr sz="1400" dirty="0"/>
              <a:t> </a:t>
            </a:r>
            <a:r>
              <a:rPr sz="1400" dirty="0" err="1"/>
              <a:t>ثم</a:t>
            </a:r>
            <a:r>
              <a:rPr sz="1400" dirty="0"/>
              <a:t> </a:t>
            </a:r>
            <a:r>
              <a:rPr sz="1400" dirty="0" err="1"/>
              <a:t>إنجازها</a:t>
            </a:r>
            <a:r>
              <a:rPr sz="1400" dirty="0"/>
              <a:t> </a:t>
            </a:r>
            <a:r>
              <a:rPr sz="1400" dirty="0" err="1"/>
              <a:t>بنجاح</a:t>
            </a:r>
            <a:r>
              <a:rPr sz="1400" dirty="0"/>
              <a:t> </a:t>
            </a:r>
            <a:r>
              <a:rPr sz="1400" dirty="0" err="1"/>
              <a:t>مع</a:t>
            </a:r>
            <a:r>
              <a:rPr sz="1400" dirty="0"/>
              <a:t> </a:t>
            </a:r>
            <a:r>
              <a:rPr sz="1400" dirty="0" err="1"/>
              <a:t>صورة</a:t>
            </a:r>
            <a:r>
              <a:rPr sz="1400" dirty="0"/>
              <a:t> </a:t>
            </a:r>
            <a:r>
              <a:rPr sz="1400" dirty="0" err="1"/>
              <a:t>الإنجاز</a:t>
            </a:r>
            <a:r>
              <a:rPr sz="1400" dirty="0"/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🔸 </a:t>
            </a:r>
            <a:r>
              <a:rPr sz="1400" dirty="0" err="1"/>
              <a:t>دعم</a:t>
            </a:r>
            <a:r>
              <a:rPr sz="1400" dirty="0"/>
              <a:t> </a:t>
            </a:r>
            <a:r>
              <a:rPr sz="1400" dirty="0" err="1"/>
              <a:t>قناة</a:t>
            </a:r>
            <a:r>
              <a:rPr sz="1400" dirty="0"/>
              <a:t> </a:t>
            </a:r>
            <a:r>
              <a:rPr sz="1400" dirty="0" err="1"/>
              <a:t>الواتساب</a:t>
            </a:r>
            <a:r>
              <a:rPr sz="1400" dirty="0"/>
              <a:t> (Twilio WhatsApp API): </a:t>
            </a:r>
            <a:r>
              <a:rPr sz="1400" dirty="0" err="1"/>
              <a:t>خيار</a:t>
            </a:r>
            <a:r>
              <a:rPr sz="1400" dirty="0"/>
              <a:t> </a:t>
            </a:r>
            <a:r>
              <a:rPr sz="1400" dirty="0" err="1"/>
              <a:t>مفضل</a:t>
            </a:r>
            <a:r>
              <a:rPr sz="1400" dirty="0"/>
              <a:t> </a:t>
            </a:r>
            <a:r>
              <a:rPr sz="1400" dirty="0" err="1"/>
              <a:t>وأكثر</a:t>
            </a:r>
            <a:r>
              <a:rPr sz="1400" dirty="0"/>
              <a:t> </a:t>
            </a:r>
            <a:r>
              <a:rPr sz="1400" dirty="0" err="1"/>
              <a:t>توفيراً</a:t>
            </a:r>
            <a:r>
              <a:rPr sz="1400" dirty="0"/>
              <a:t> </a:t>
            </a:r>
            <a:r>
              <a:rPr sz="1400" dirty="0" err="1"/>
              <a:t>للمواطنين</a:t>
            </a:r>
            <a:r>
              <a:rPr sz="1400" dirty="0"/>
              <a:t> </a:t>
            </a:r>
            <a:r>
              <a:rPr sz="1400" dirty="0" err="1"/>
              <a:t>اللبنانيين</a:t>
            </a:r>
            <a:r>
              <a:rPr sz="1400" dirty="0"/>
              <a:t> </a:t>
            </a:r>
            <a:r>
              <a:rPr sz="1400" dirty="0" err="1"/>
              <a:t>نظراً</a:t>
            </a:r>
            <a:r>
              <a:rPr sz="1400" dirty="0"/>
              <a:t> </a:t>
            </a:r>
            <a:r>
              <a:rPr sz="1400" dirty="0" err="1"/>
              <a:t>لانتشار</a:t>
            </a:r>
            <a:r>
              <a:rPr sz="1400" dirty="0"/>
              <a:t> </a:t>
            </a:r>
            <a:r>
              <a:rPr sz="1400" dirty="0" err="1"/>
              <a:t>الواتساب</a:t>
            </a:r>
            <a:r>
              <a:rPr sz="1400" dirty="0"/>
              <a:t> </a:t>
            </a:r>
            <a:r>
              <a:rPr sz="1400" dirty="0" err="1"/>
              <a:t>وسرعة</a:t>
            </a:r>
            <a:r>
              <a:rPr sz="1400" dirty="0"/>
              <a:t> </a:t>
            </a:r>
            <a:r>
              <a:rPr sz="1400" dirty="0" err="1"/>
              <a:t>وصوله</a:t>
            </a:r>
            <a:r>
              <a:rPr sz="1400" dirty="0"/>
              <a:t> </a:t>
            </a:r>
            <a:r>
              <a:rPr sz="1400" dirty="0" err="1"/>
              <a:t>مقارنة</a:t>
            </a:r>
            <a:r>
              <a:rPr sz="1400" dirty="0"/>
              <a:t> </a:t>
            </a:r>
            <a:r>
              <a:rPr sz="1400" dirty="0" err="1"/>
              <a:t>بال</a:t>
            </a:r>
            <a:r>
              <a:rPr sz="1400" dirty="0"/>
              <a:t>ـ 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514600"/>
            <a:ext cx="3657600" cy="37033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400" b="1">
                <a:solidFill>
                  <a:srgbClr val="1E6F50"/>
                </a:solidFill>
                <a:latin typeface="Arial"/>
              </a:defRPr>
            </a:pPr>
            <a:r>
              <a:rPr dirty="0"/>
              <a:t>💰 </a:t>
            </a:r>
            <a:r>
              <a:rPr dirty="0" err="1"/>
              <a:t>تفاصيل</a:t>
            </a:r>
            <a:r>
              <a:rPr dirty="0"/>
              <a:t> </a:t>
            </a:r>
            <a:r>
              <a:rPr dirty="0" err="1"/>
              <a:t>اشتراك</a:t>
            </a:r>
            <a:r>
              <a:rPr dirty="0"/>
              <a:t> </a:t>
            </a:r>
            <a:r>
              <a:rPr dirty="0" err="1"/>
              <a:t>وتكلفة</a:t>
            </a:r>
            <a:r>
              <a:rPr dirty="0"/>
              <a:t> Twilio</a:t>
            </a:r>
          </a:p>
          <a:p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نظام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الدفع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رصيد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مسبق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الدفع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(Pay-As-You-Go)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دون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التزام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بعقود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إجبارية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تكلفة</a:t>
            </a:r>
            <a:r>
              <a:rPr dirty="0"/>
              <a:t> </a:t>
            </a:r>
            <a:r>
              <a:rPr dirty="0" err="1"/>
              <a:t>الرسالة</a:t>
            </a:r>
            <a:r>
              <a:rPr dirty="0"/>
              <a:t> </a:t>
            </a:r>
            <a:r>
              <a:rPr dirty="0" err="1"/>
              <a:t>النصية</a:t>
            </a:r>
            <a:r>
              <a:rPr dirty="0"/>
              <a:t> (SMS </a:t>
            </a:r>
            <a:r>
              <a:rPr dirty="0" err="1"/>
              <a:t>للبنان</a:t>
            </a:r>
            <a:r>
              <a:rPr dirty="0"/>
              <a:t> Alfa/Touch): </a:t>
            </a:r>
            <a:r>
              <a:rPr dirty="0" err="1"/>
              <a:t>حوالي</a:t>
            </a:r>
            <a:r>
              <a:rPr dirty="0"/>
              <a:t> $0.065 </a:t>
            </a:r>
            <a:r>
              <a:rPr dirty="0" err="1"/>
              <a:t>إلى</a:t>
            </a:r>
            <a:r>
              <a:rPr dirty="0"/>
              <a:t> $0.085 </a:t>
            </a:r>
            <a:r>
              <a:rPr dirty="0" err="1"/>
              <a:t>للرسالة</a:t>
            </a:r>
            <a:r>
              <a:rPr dirty="0"/>
              <a:t> </a:t>
            </a:r>
            <a:r>
              <a:rPr dirty="0" err="1"/>
              <a:t>الواحدة</a:t>
            </a:r>
            <a:r>
              <a:rPr dirty="0"/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تكلفة</a:t>
            </a:r>
            <a:r>
              <a:rPr dirty="0"/>
              <a:t> </a:t>
            </a:r>
            <a:r>
              <a:rPr dirty="0" err="1"/>
              <a:t>رسائل</a:t>
            </a:r>
            <a:r>
              <a:rPr dirty="0"/>
              <a:t> </a:t>
            </a:r>
            <a:r>
              <a:rPr dirty="0" err="1"/>
              <a:t>الواتساب</a:t>
            </a:r>
            <a:r>
              <a:rPr dirty="0"/>
              <a:t> (WhatsApp OTP): </a:t>
            </a:r>
            <a:r>
              <a:rPr dirty="0" err="1"/>
              <a:t>حوالي</a:t>
            </a:r>
            <a:r>
              <a:rPr dirty="0"/>
              <a:t> $0.035 </a:t>
            </a:r>
            <a:r>
              <a:rPr dirty="0" err="1"/>
              <a:t>إلى</a:t>
            </a:r>
            <a:r>
              <a:rPr dirty="0"/>
              <a:t> $0.05 </a:t>
            </a:r>
            <a:r>
              <a:rPr dirty="0" err="1"/>
              <a:t>للرسالة</a:t>
            </a:r>
            <a:r>
              <a:rPr dirty="0"/>
              <a:t> (</a:t>
            </a:r>
            <a:r>
              <a:rPr dirty="0" err="1"/>
              <a:t>أوفر</a:t>
            </a:r>
            <a:r>
              <a:rPr dirty="0"/>
              <a:t> </a:t>
            </a:r>
            <a:r>
              <a:rPr dirty="0" err="1"/>
              <a:t>بنسبة</a:t>
            </a:r>
            <a:r>
              <a:rPr dirty="0"/>
              <a:t> 40%).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الاستهلاك</a:t>
            </a:r>
            <a:r>
              <a:rPr dirty="0"/>
              <a:t> </a:t>
            </a:r>
            <a:r>
              <a:rPr dirty="0" err="1"/>
              <a:t>التقديري</a:t>
            </a:r>
            <a:r>
              <a:rPr dirty="0"/>
              <a:t> </a:t>
            </a:r>
            <a:r>
              <a:rPr dirty="0" err="1"/>
              <a:t>لبلدة</a:t>
            </a:r>
            <a:r>
              <a:rPr dirty="0"/>
              <a:t> </a:t>
            </a:r>
            <a:r>
              <a:rPr dirty="0" err="1"/>
              <a:t>بدنايل</a:t>
            </a:r>
            <a:r>
              <a:rPr dirty="0"/>
              <a:t>: 200 </a:t>
            </a:r>
            <a:r>
              <a:rPr dirty="0" err="1"/>
              <a:t>إلى</a:t>
            </a:r>
            <a:r>
              <a:rPr dirty="0"/>
              <a:t> 400 </a:t>
            </a:r>
            <a:r>
              <a:rPr dirty="0" err="1"/>
              <a:t>رسالة</a:t>
            </a:r>
            <a:r>
              <a:rPr dirty="0"/>
              <a:t> </a:t>
            </a:r>
            <a:r>
              <a:rPr dirty="0" err="1"/>
              <a:t>شهرياً</a:t>
            </a:r>
            <a:r>
              <a:rPr dirty="0"/>
              <a:t> </a:t>
            </a:r>
            <a:r>
              <a:rPr dirty="0" err="1"/>
              <a:t>لمجمل</a:t>
            </a:r>
            <a:r>
              <a:rPr dirty="0"/>
              <a:t> </a:t>
            </a:r>
            <a:r>
              <a:rPr dirty="0" err="1"/>
              <a:t>العمليات</a:t>
            </a:r>
            <a:r>
              <a:rPr dirty="0"/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التكلفة</a:t>
            </a:r>
            <a:r>
              <a:rPr dirty="0"/>
              <a:t> </a:t>
            </a:r>
            <a:r>
              <a:rPr dirty="0" err="1"/>
              <a:t>الشهرية</a:t>
            </a:r>
            <a:r>
              <a:rPr dirty="0"/>
              <a:t> </a:t>
            </a:r>
            <a:r>
              <a:rPr dirty="0" err="1"/>
              <a:t>المتوقعة</a:t>
            </a:r>
            <a:r>
              <a:rPr dirty="0"/>
              <a:t>: $15 </a:t>
            </a:r>
            <a:r>
              <a:rPr dirty="0" err="1"/>
              <a:t>إلى</a:t>
            </a:r>
            <a:r>
              <a:rPr dirty="0"/>
              <a:t> $25 </a:t>
            </a:r>
            <a:r>
              <a:rPr dirty="0" err="1"/>
              <a:t>شهرياً</a:t>
            </a:r>
            <a:r>
              <a:rPr dirty="0"/>
              <a:t>.</a:t>
            </a:r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التكلفة</a:t>
            </a:r>
            <a:r>
              <a:rPr dirty="0"/>
              <a:t> </a:t>
            </a:r>
            <a:r>
              <a:rPr dirty="0" err="1"/>
              <a:t>السنوية</a:t>
            </a:r>
            <a:r>
              <a:rPr dirty="0"/>
              <a:t> </a:t>
            </a:r>
            <a:r>
              <a:rPr dirty="0" err="1"/>
              <a:t>التقديرية</a:t>
            </a:r>
            <a:r>
              <a:rPr dirty="0"/>
              <a:t>: $180 </a:t>
            </a:r>
            <a:r>
              <a:rPr dirty="0" err="1"/>
              <a:t>إلى</a:t>
            </a:r>
            <a:r>
              <a:rPr dirty="0"/>
              <a:t> $300 </a:t>
            </a:r>
            <a:r>
              <a:rPr dirty="0" err="1"/>
              <a:t>سنوياً</a:t>
            </a:r>
            <a:r>
              <a:rPr dirty="0"/>
              <a:t> (</a:t>
            </a:r>
            <a:r>
              <a:rPr dirty="0" err="1"/>
              <a:t>تُشحن</a:t>
            </a:r>
            <a:r>
              <a:rPr dirty="0"/>
              <a:t> </a:t>
            </a:r>
            <a:r>
              <a:rPr dirty="0" err="1"/>
              <a:t>حسب</a:t>
            </a:r>
            <a:r>
              <a:rPr dirty="0"/>
              <a:t> </a:t>
            </a:r>
            <a:r>
              <a:rPr dirty="0" err="1"/>
              <a:t>حاجة</a:t>
            </a:r>
            <a:r>
              <a:rPr dirty="0"/>
              <a:t> </a:t>
            </a:r>
            <a:r>
              <a:rPr dirty="0" err="1"/>
              <a:t>البلدية</a:t>
            </a:r>
            <a:r>
              <a:rPr dirty="0"/>
              <a:t> </a:t>
            </a:r>
            <a:r>
              <a:rPr dirty="0" err="1"/>
              <a:t>الفعلية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1">
                <a:solidFill>
                  <a:srgbClr val="1E6F50"/>
                </a:solidFill>
                <a:latin typeface="Arial"/>
              </a:defRPr>
            </a:pPr>
            <a:r>
              <a:t>بلدية بدنايل | بوابة التحول الرقمي والحكومة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400" b="1">
                <a:solidFill>
                  <a:srgbClr val="0F2942"/>
                </a:solidFill>
                <a:latin typeface="Arial"/>
              </a:defRPr>
            </a:pPr>
            <a:r>
              <a:t>النطاق الحكومي الرسمي (.gov.lb) — الآلية، المتطلبات، والتكلفة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000" b="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7 من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6858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6858000" cy="54864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defRPr sz="1400" b="1">
                <a:solidFill>
                  <a:srgbClr val="FFFFFF"/>
                </a:solidFill>
                <a:latin typeface="Arial"/>
              </a:defRPr>
            </a:pPr>
            <a:r>
              <a:t>🏛️ آلية وخطوات حجز النطاق السيادي (bednayel.gov.lb)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64922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🔹 </a:t>
            </a:r>
            <a:r>
              <a:rPr sz="1600" dirty="0" err="1"/>
              <a:t>الجهة</a:t>
            </a:r>
            <a:r>
              <a:rPr sz="1600" dirty="0"/>
              <a:t> </a:t>
            </a:r>
            <a:r>
              <a:rPr sz="1600" dirty="0" err="1"/>
              <a:t>المشرفة</a:t>
            </a:r>
            <a:r>
              <a:rPr sz="1600" dirty="0"/>
              <a:t> </a:t>
            </a:r>
            <a:r>
              <a:rPr sz="1600" dirty="0" err="1"/>
              <a:t>الرسمية</a:t>
            </a:r>
            <a:r>
              <a:rPr sz="1600" dirty="0"/>
              <a:t>: </a:t>
            </a:r>
            <a:r>
              <a:rPr sz="1600" dirty="0" err="1"/>
              <a:t>مكتب</a:t>
            </a:r>
            <a:r>
              <a:rPr sz="1600" dirty="0"/>
              <a:t> </a:t>
            </a:r>
            <a:r>
              <a:rPr sz="1600" dirty="0" err="1"/>
              <a:t>وزير</a:t>
            </a:r>
            <a:r>
              <a:rPr sz="1600" dirty="0"/>
              <a:t> </a:t>
            </a:r>
            <a:r>
              <a:rPr sz="1600" dirty="0" err="1"/>
              <a:t>الدولة</a:t>
            </a:r>
            <a:r>
              <a:rPr sz="1600" dirty="0"/>
              <a:t> </a:t>
            </a:r>
            <a:r>
              <a:rPr sz="1600" dirty="0" err="1"/>
              <a:t>لشؤون</a:t>
            </a:r>
            <a:r>
              <a:rPr sz="1600" dirty="0"/>
              <a:t> </a:t>
            </a:r>
            <a:r>
              <a:rPr sz="1600" dirty="0" err="1"/>
              <a:t>التنمية</a:t>
            </a:r>
            <a:r>
              <a:rPr sz="1600" dirty="0"/>
              <a:t> </a:t>
            </a:r>
            <a:r>
              <a:rPr sz="1600" dirty="0" err="1"/>
              <a:t>الإدارية</a:t>
            </a:r>
            <a:r>
              <a:rPr sz="1600" dirty="0"/>
              <a:t> (OMSAR) </a:t>
            </a:r>
            <a:r>
              <a:rPr sz="1600" dirty="0" err="1"/>
              <a:t>بالتنسيق</a:t>
            </a:r>
            <a:r>
              <a:rPr sz="1600" dirty="0"/>
              <a:t> </a:t>
            </a:r>
            <a:r>
              <a:rPr sz="1600" dirty="0" err="1"/>
              <a:t>مع</a:t>
            </a:r>
            <a:r>
              <a:rPr sz="1600" dirty="0"/>
              <a:t> </a:t>
            </a:r>
            <a:r>
              <a:rPr sz="1600" dirty="0" err="1"/>
              <a:t>هيئة</a:t>
            </a:r>
            <a:r>
              <a:rPr sz="1600" dirty="0"/>
              <a:t> </a:t>
            </a:r>
            <a:r>
              <a:rPr sz="1600" dirty="0" err="1"/>
              <a:t>إدارة</a:t>
            </a:r>
            <a:r>
              <a:rPr sz="1600" dirty="0"/>
              <a:t> </a:t>
            </a:r>
            <a:r>
              <a:rPr sz="1600" dirty="0" err="1"/>
              <a:t>النطاق</a:t>
            </a:r>
            <a:r>
              <a:rPr sz="1600" dirty="0"/>
              <a:t> </a:t>
            </a:r>
            <a:r>
              <a:rPr sz="1600" dirty="0" err="1"/>
              <a:t>اللبناني</a:t>
            </a:r>
            <a:r>
              <a:rPr sz="1600" dirty="0"/>
              <a:t> (LBDR / OGERO).</a:t>
            </a:r>
          </a:p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🔹 1. </a:t>
            </a:r>
            <a:r>
              <a:rPr sz="1600" dirty="0" err="1"/>
              <a:t>إعداد</a:t>
            </a:r>
            <a:r>
              <a:rPr sz="1600" dirty="0"/>
              <a:t> </a:t>
            </a:r>
            <a:r>
              <a:rPr sz="1600" dirty="0" err="1"/>
              <a:t>الكتاب</a:t>
            </a:r>
            <a:r>
              <a:rPr sz="1600" dirty="0"/>
              <a:t> </a:t>
            </a:r>
            <a:r>
              <a:rPr sz="1600" dirty="0" err="1"/>
              <a:t>والقرار</a:t>
            </a:r>
            <a:r>
              <a:rPr sz="1600" dirty="0"/>
              <a:t> </a:t>
            </a:r>
            <a:r>
              <a:rPr sz="1600" dirty="0" err="1"/>
              <a:t>البلدي</a:t>
            </a:r>
            <a:r>
              <a:rPr sz="1600" dirty="0"/>
              <a:t>: </a:t>
            </a:r>
            <a:r>
              <a:rPr sz="1600" dirty="0" err="1"/>
              <a:t>تجهيز</a:t>
            </a:r>
            <a:r>
              <a:rPr sz="1600" dirty="0"/>
              <a:t> </a:t>
            </a:r>
            <a:r>
              <a:rPr sz="1600" dirty="0" err="1"/>
              <a:t>كتاب</a:t>
            </a:r>
            <a:r>
              <a:rPr sz="1600" dirty="0"/>
              <a:t> </a:t>
            </a:r>
            <a:r>
              <a:rPr sz="1600" dirty="0" err="1"/>
              <a:t>رسمي</a:t>
            </a:r>
            <a:r>
              <a:rPr sz="1600" dirty="0"/>
              <a:t> </a:t>
            </a:r>
            <a:r>
              <a:rPr sz="1600" dirty="0" err="1"/>
              <a:t>موقّع</a:t>
            </a:r>
            <a:r>
              <a:rPr sz="1600" dirty="0"/>
              <a:t> </a:t>
            </a:r>
            <a:r>
              <a:rPr sz="1600" dirty="0" err="1"/>
              <a:t>ومختوم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رئيس</a:t>
            </a:r>
            <a:r>
              <a:rPr sz="1600" dirty="0"/>
              <a:t> </a:t>
            </a:r>
            <a:r>
              <a:rPr sz="1600" dirty="0" err="1"/>
              <a:t>مجلس</a:t>
            </a:r>
            <a:r>
              <a:rPr sz="1600" dirty="0"/>
              <a:t> </a:t>
            </a:r>
            <a:r>
              <a:rPr sz="1600" dirty="0" err="1"/>
              <a:t>بلدية</a:t>
            </a:r>
            <a:r>
              <a:rPr sz="1600" dirty="0"/>
              <a:t> </a:t>
            </a:r>
            <a:r>
              <a:rPr sz="1600" dirty="0" err="1"/>
              <a:t>بدنايل</a:t>
            </a:r>
            <a:r>
              <a:rPr sz="1600" dirty="0"/>
              <a:t>، </a:t>
            </a:r>
            <a:r>
              <a:rPr sz="1600" dirty="0" err="1"/>
              <a:t>وموجّه</a:t>
            </a:r>
            <a:r>
              <a:rPr sz="1600" dirty="0"/>
              <a:t> </a:t>
            </a:r>
            <a:r>
              <a:rPr sz="1600" dirty="0" err="1"/>
              <a:t>إلى</a:t>
            </a:r>
            <a:r>
              <a:rPr sz="1600" dirty="0"/>
              <a:t> OMSAR </a:t>
            </a:r>
            <a:r>
              <a:rPr sz="1600" dirty="0" err="1"/>
              <a:t>يطلب</a:t>
            </a:r>
            <a:r>
              <a:rPr sz="1600" dirty="0"/>
              <a:t> </a:t>
            </a:r>
            <a:r>
              <a:rPr sz="1600" dirty="0" err="1"/>
              <a:t>حجز</a:t>
            </a:r>
            <a:r>
              <a:rPr sz="1600" dirty="0"/>
              <a:t> </a:t>
            </a:r>
            <a:r>
              <a:rPr sz="1600" dirty="0" err="1"/>
              <a:t>وتخصيص</a:t>
            </a:r>
            <a:r>
              <a:rPr sz="1600" dirty="0"/>
              <a:t> </a:t>
            </a:r>
            <a:r>
              <a:rPr sz="1600" dirty="0" err="1"/>
              <a:t>النطاق</a:t>
            </a:r>
            <a:r>
              <a:rPr sz="1600" dirty="0"/>
              <a:t> </a:t>
            </a:r>
            <a:r>
              <a:rPr sz="1600" dirty="0" err="1"/>
              <a:t>بدقة</a:t>
            </a:r>
            <a:r>
              <a:rPr sz="1600" dirty="0"/>
              <a:t> </a:t>
            </a:r>
            <a:r>
              <a:rPr sz="1600" dirty="0" err="1"/>
              <a:t>باسم</a:t>
            </a:r>
            <a:r>
              <a:rPr sz="1600" dirty="0"/>
              <a:t> bednayel.gov.lb.</a:t>
            </a:r>
          </a:p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🔹 2. </a:t>
            </a:r>
            <a:r>
              <a:rPr sz="1600" dirty="0" err="1"/>
              <a:t>إرفاق</a:t>
            </a:r>
            <a:r>
              <a:rPr sz="1600" dirty="0"/>
              <a:t> </a:t>
            </a:r>
            <a:r>
              <a:rPr sz="1600" dirty="0" err="1"/>
              <a:t>المستندات</a:t>
            </a:r>
            <a:r>
              <a:rPr sz="1600" dirty="0"/>
              <a:t> </a:t>
            </a:r>
            <a:r>
              <a:rPr sz="1600" dirty="0" err="1"/>
              <a:t>الثبوتية</a:t>
            </a:r>
            <a:r>
              <a:rPr sz="1600" dirty="0"/>
              <a:t>: </a:t>
            </a:r>
            <a:r>
              <a:rPr sz="1600" dirty="0" err="1"/>
              <a:t>إرفاق</a:t>
            </a:r>
            <a:r>
              <a:rPr sz="1600" dirty="0"/>
              <a:t> </a:t>
            </a:r>
            <a:r>
              <a:rPr sz="1600" dirty="0" err="1"/>
              <a:t>مرسوم</a:t>
            </a:r>
            <a:r>
              <a:rPr sz="1600" dirty="0"/>
              <a:t> </a:t>
            </a:r>
            <a:r>
              <a:rPr sz="1600" dirty="0" err="1"/>
              <a:t>تأسيس</a:t>
            </a:r>
            <a:r>
              <a:rPr sz="1600" dirty="0"/>
              <a:t> </a:t>
            </a:r>
            <a:r>
              <a:rPr sz="1600" dirty="0" err="1"/>
              <a:t>البلدية</a:t>
            </a:r>
            <a:r>
              <a:rPr sz="1600" dirty="0"/>
              <a:t> </a:t>
            </a:r>
            <a:r>
              <a:rPr sz="1600" dirty="0" err="1"/>
              <a:t>أو</a:t>
            </a:r>
            <a:r>
              <a:rPr sz="1600" dirty="0"/>
              <a:t> </a:t>
            </a:r>
            <a:r>
              <a:rPr sz="1600" dirty="0" err="1"/>
              <a:t>إفادة</a:t>
            </a:r>
            <a:r>
              <a:rPr sz="1600" dirty="0"/>
              <a:t> </a:t>
            </a:r>
            <a:r>
              <a:rPr sz="1600" dirty="0" err="1"/>
              <a:t>رسمية</a:t>
            </a:r>
            <a:r>
              <a:rPr sz="1600" dirty="0"/>
              <a:t> </a:t>
            </a:r>
            <a:r>
              <a:rPr sz="1600" dirty="0" err="1"/>
              <a:t>صادرة</a:t>
            </a:r>
            <a:r>
              <a:rPr sz="1600" dirty="0"/>
              <a:t> </a:t>
            </a:r>
            <a:r>
              <a:rPr sz="1600" dirty="0" err="1"/>
              <a:t>عن</a:t>
            </a:r>
            <a:r>
              <a:rPr sz="1600" dirty="0"/>
              <a:t> </a:t>
            </a:r>
            <a:r>
              <a:rPr sz="1600" dirty="0" err="1"/>
              <a:t>وزارة</a:t>
            </a:r>
            <a:r>
              <a:rPr sz="1600" dirty="0"/>
              <a:t> </a:t>
            </a:r>
            <a:r>
              <a:rPr sz="1600" dirty="0" err="1"/>
              <a:t>الداخلية</a:t>
            </a:r>
            <a:r>
              <a:rPr sz="1600" dirty="0"/>
              <a:t> </a:t>
            </a:r>
            <a:r>
              <a:rPr sz="1600" dirty="0" err="1"/>
              <a:t>والبلديات</a:t>
            </a:r>
            <a:r>
              <a:rPr sz="1600" dirty="0"/>
              <a:t> </a:t>
            </a:r>
            <a:r>
              <a:rPr sz="1600" dirty="0" err="1"/>
              <a:t>تُثبت</a:t>
            </a:r>
            <a:r>
              <a:rPr sz="1600" dirty="0"/>
              <a:t> </a:t>
            </a:r>
            <a:r>
              <a:rPr sz="1600" dirty="0" err="1"/>
              <a:t>الصفة</a:t>
            </a:r>
            <a:r>
              <a:rPr sz="1600" dirty="0"/>
              <a:t> </a:t>
            </a:r>
            <a:r>
              <a:rPr sz="1600" dirty="0" err="1"/>
              <a:t>القانونية</a:t>
            </a:r>
            <a:r>
              <a:rPr sz="1600" dirty="0"/>
              <a:t> </a:t>
            </a:r>
            <a:r>
              <a:rPr sz="1600" dirty="0" err="1"/>
              <a:t>للمجلس</a:t>
            </a:r>
            <a:r>
              <a:rPr sz="1600" dirty="0"/>
              <a:t> </a:t>
            </a:r>
            <a:r>
              <a:rPr sz="1600" dirty="0" err="1"/>
              <a:t>البلدي</a:t>
            </a:r>
            <a:r>
              <a:rPr sz="1600" dirty="0"/>
              <a:t> </a:t>
            </a:r>
            <a:r>
              <a:rPr sz="1600" dirty="0" err="1"/>
              <a:t>ورئيسه</a:t>
            </a:r>
            <a:r>
              <a:rPr sz="1600" dirty="0"/>
              <a:t>.</a:t>
            </a:r>
          </a:p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🔹 3. </a:t>
            </a:r>
            <a:r>
              <a:rPr sz="1600" dirty="0" err="1"/>
              <a:t>تعيين</a:t>
            </a:r>
            <a:r>
              <a:rPr sz="1600" dirty="0"/>
              <a:t> </a:t>
            </a:r>
            <a:r>
              <a:rPr sz="1600" dirty="0" err="1"/>
              <a:t>جهات</a:t>
            </a:r>
            <a:r>
              <a:rPr sz="1600" dirty="0"/>
              <a:t> </a:t>
            </a:r>
            <a:r>
              <a:rPr sz="1600" dirty="0" err="1"/>
              <a:t>الاتصال</a:t>
            </a:r>
            <a:r>
              <a:rPr sz="1600" dirty="0"/>
              <a:t> (Contacts): </a:t>
            </a:r>
            <a:r>
              <a:rPr sz="1600" dirty="0" err="1"/>
              <a:t>تحديد</a:t>
            </a:r>
            <a:r>
              <a:rPr sz="1600" dirty="0"/>
              <a:t> </a:t>
            </a:r>
            <a:r>
              <a:rPr sz="1600" dirty="0" err="1"/>
              <a:t>ممثل</a:t>
            </a:r>
            <a:r>
              <a:rPr sz="1600" dirty="0"/>
              <a:t> </a:t>
            </a:r>
            <a:r>
              <a:rPr sz="1600" dirty="0" err="1"/>
              <a:t>إداري</a:t>
            </a:r>
            <a:r>
              <a:rPr sz="1600" dirty="0"/>
              <a:t> (</a:t>
            </a:r>
            <a:r>
              <a:rPr sz="1600" dirty="0" err="1"/>
              <a:t>رئيس</a:t>
            </a:r>
            <a:r>
              <a:rPr sz="1600" dirty="0"/>
              <a:t> </a:t>
            </a:r>
            <a:r>
              <a:rPr sz="1600" dirty="0" err="1"/>
              <a:t>البلدية</a:t>
            </a:r>
            <a:r>
              <a:rPr sz="1600" dirty="0"/>
              <a:t> </a:t>
            </a:r>
            <a:r>
              <a:rPr sz="1600" dirty="0" err="1"/>
              <a:t>أو</a:t>
            </a:r>
            <a:r>
              <a:rPr sz="1600" dirty="0"/>
              <a:t> </a:t>
            </a:r>
            <a:r>
              <a:rPr sz="1600" dirty="0" err="1"/>
              <a:t>عضو</a:t>
            </a:r>
            <a:r>
              <a:rPr sz="1600" dirty="0"/>
              <a:t> </a:t>
            </a:r>
            <a:r>
              <a:rPr sz="1600" dirty="0" err="1"/>
              <a:t>مجلس</a:t>
            </a:r>
            <a:r>
              <a:rPr sz="1600" dirty="0"/>
              <a:t>) </a:t>
            </a:r>
            <a:r>
              <a:rPr sz="1600" dirty="0" err="1"/>
              <a:t>وممثل</a:t>
            </a:r>
            <a:r>
              <a:rPr sz="1600" dirty="0"/>
              <a:t> </a:t>
            </a:r>
            <a:r>
              <a:rPr sz="1600" dirty="0" err="1"/>
              <a:t>تقني</a:t>
            </a:r>
            <a:r>
              <a:rPr sz="1600" dirty="0"/>
              <a:t> </a:t>
            </a:r>
            <a:r>
              <a:rPr sz="1600" dirty="0" err="1"/>
              <a:t>مسؤول</a:t>
            </a:r>
            <a:r>
              <a:rPr sz="1600" dirty="0"/>
              <a:t> </a:t>
            </a:r>
            <a:r>
              <a:rPr sz="1600" dirty="0" err="1"/>
              <a:t>عن</a:t>
            </a:r>
            <a:r>
              <a:rPr sz="1600" dirty="0"/>
              <a:t> </a:t>
            </a:r>
            <a:r>
              <a:rPr sz="1600" dirty="0" err="1"/>
              <a:t>الخوادم</a:t>
            </a:r>
            <a:r>
              <a:rPr sz="1600" dirty="0"/>
              <a:t> </a:t>
            </a:r>
            <a:r>
              <a:rPr sz="1600" dirty="0" err="1"/>
              <a:t>وعناوين</a:t>
            </a:r>
            <a:r>
              <a:rPr sz="1600" dirty="0"/>
              <a:t> </a:t>
            </a:r>
            <a:r>
              <a:rPr sz="1600" dirty="0" err="1"/>
              <a:t>ال</a:t>
            </a:r>
            <a:r>
              <a:rPr sz="1600" dirty="0"/>
              <a:t>ـ DNS.</a:t>
            </a:r>
          </a:p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🔹 4. </a:t>
            </a:r>
            <a:r>
              <a:rPr sz="1600" dirty="0" err="1"/>
              <a:t>ربط</a:t>
            </a:r>
            <a:r>
              <a:rPr sz="1600" dirty="0"/>
              <a:t> </a:t>
            </a:r>
            <a:r>
              <a:rPr sz="1600" dirty="0" err="1"/>
              <a:t>خوادم</a:t>
            </a:r>
            <a:r>
              <a:rPr sz="1600" dirty="0"/>
              <a:t> </a:t>
            </a:r>
            <a:r>
              <a:rPr sz="1600" dirty="0" err="1"/>
              <a:t>الأسماء</a:t>
            </a:r>
            <a:r>
              <a:rPr sz="1600" dirty="0"/>
              <a:t> (DNS Delegation): </a:t>
            </a:r>
            <a:r>
              <a:rPr sz="1600" dirty="0" err="1"/>
              <a:t>تزويد</a:t>
            </a:r>
            <a:r>
              <a:rPr sz="1600" dirty="0"/>
              <a:t> </a:t>
            </a:r>
            <a:r>
              <a:rPr sz="1600" dirty="0" err="1"/>
              <a:t>الهيئة</a:t>
            </a:r>
            <a:r>
              <a:rPr sz="1600" dirty="0"/>
              <a:t> </a:t>
            </a:r>
            <a:r>
              <a:rPr sz="1600" dirty="0" err="1"/>
              <a:t>بعناوين</a:t>
            </a:r>
            <a:r>
              <a:rPr sz="1600" dirty="0"/>
              <a:t> </a:t>
            </a:r>
            <a:r>
              <a:rPr sz="1600" dirty="0" err="1"/>
              <a:t>ال</a:t>
            </a:r>
            <a:r>
              <a:rPr sz="1600" dirty="0"/>
              <a:t>ـ Nameservers </a:t>
            </a:r>
            <a:r>
              <a:rPr sz="1600" dirty="0" err="1"/>
              <a:t>الخاصة</a:t>
            </a:r>
            <a:r>
              <a:rPr sz="1600" dirty="0"/>
              <a:t> </a:t>
            </a:r>
            <a:r>
              <a:rPr sz="1600" dirty="0" err="1"/>
              <a:t>بخادم</a:t>
            </a:r>
            <a:r>
              <a:rPr sz="1600" dirty="0"/>
              <a:t> </a:t>
            </a:r>
            <a:r>
              <a:rPr sz="1600" dirty="0" err="1"/>
              <a:t>الاستضافة</a:t>
            </a:r>
            <a:r>
              <a:rPr sz="1600" dirty="0"/>
              <a:t> </a:t>
            </a:r>
            <a:r>
              <a:rPr sz="1600" dirty="0" err="1"/>
              <a:t>لربط</a:t>
            </a:r>
            <a:r>
              <a:rPr sz="1600" dirty="0"/>
              <a:t> </a:t>
            </a:r>
            <a:r>
              <a:rPr sz="1600" dirty="0" err="1"/>
              <a:t>الموقع</a:t>
            </a:r>
            <a:r>
              <a:rPr sz="1600" dirty="0"/>
              <a:t> </a:t>
            </a:r>
            <a:r>
              <a:rPr sz="1600" dirty="0" err="1"/>
              <a:t>تلقائياً</a:t>
            </a:r>
            <a:r>
              <a:rPr sz="1600" dirty="0"/>
              <a:t>.</a:t>
            </a:r>
          </a:p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🔹 5. </a:t>
            </a:r>
            <a:r>
              <a:rPr sz="1600" dirty="0" err="1"/>
              <a:t>التدقيق</a:t>
            </a:r>
            <a:r>
              <a:rPr sz="1600" dirty="0"/>
              <a:t> </a:t>
            </a:r>
            <a:r>
              <a:rPr sz="1600" dirty="0" err="1"/>
              <a:t>والموافقة</a:t>
            </a:r>
            <a:r>
              <a:rPr sz="1600" dirty="0"/>
              <a:t> </a:t>
            </a:r>
            <a:r>
              <a:rPr sz="1600" dirty="0" err="1"/>
              <a:t>والتفعيل</a:t>
            </a:r>
            <a:r>
              <a:rPr sz="1600" dirty="0"/>
              <a:t>: </a:t>
            </a:r>
            <a:r>
              <a:rPr sz="1600" dirty="0" err="1"/>
              <a:t>تتم</a:t>
            </a:r>
            <a:r>
              <a:rPr sz="1600" dirty="0"/>
              <a:t> </a:t>
            </a:r>
            <a:r>
              <a:rPr sz="1600" dirty="0" err="1"/>
              <a:t>مراجعة</a:t>
            </a:r>
            <a:r>
              <a:rPr sz="1600" dirty="0"/>
              <a:t> </a:t>
            </a:r>
            <a:r>
              <a:rPr sz="1600" dirty="0" err="1"/>
              <a:t>الطلب</a:t>
            </a:r>
            <a:r>
              <a:rPr sz="1600" dirty="0"/>
              <a:t> </a:t>
            </a:r>
            <a:r>
              <a:rPr sz="1600" dirty="0" err="1"/>
              <a:t>خلال</a:t>
            </a:r>
            <a:r>
              <a:rPr sz="1600" dirty="0"/>
              <a:t> </a:t>
            </a:r>
            <a:r>
              <a:rPr sz="1600" dirty="0" err="1"/>
              <a:t>فترة</a:t>
            </a:r>
            <a:r>
              <a:rPr sz="1600" dirty="0"/>
              <a:t> </a:t>
            </a:r>
            <a:r>
              <a:rPr sz="1600" dirty="0" err="1"/>
              <a:t>تتراوح</a:t>
            </a:r>
            <a:r>
              <a:rPr sz="1600" dirty="0"/>
              <a:t> </a:t>
            </a:r>
            <a:r>
              <a:rPr sz="1600" dirty="0" err="1"/>
              <a:t>بين</a:t>
            </a:r>
            <a:r>
              <a:rPr sz="1600" dirty="0"/>
              <a:t> 5 </a:t>
            </a:r>
            <a:r>
              <a:rPr sz="1600" dirty="0" err="1"/>
              <a:t>إلى</a:t>
            </a:r>
            <a:r>
              <a:rPr sz="1600" dirty="0"/>
              <a:t> 15 </a:t>
            </a:r>
            <a:r>
              <a:rPr sz="1600" dirty="0" err="1"/>
              <a:t>يوم</a:t>
            </a:r>
            <a:r>
              <a:rPr sz="1600" dirty="0"/>
              <a:t> </a:t>
            </a:r>
            <a:r>
              <a:rPr sz="1600" dirty="0" err="1"/>
              <a:t>عمل</a:t>
            </a:r>
            <a:r>
              <a:rPr sz="1600" dirty="0"/>
              <a:t> </a:t>
            </a:r>
            <a:r>
              <a:rPr sz="1600" dirty="0" err="1"/>
              <a:t>ويتم</a:t>
            </a:r>
            <a:r>
              <a:rPr sz="1600" dirty="0"/>
              <a:t> </a:t>
            </a:r>
            <a:r>
              <a:rPr sz="1600" dirty="0" err="1"/>
              <a:t>تفعيل</a:t>
            </a:r>
            <a:r>
              <a:rPr sz="1600" dirty="0"/>
              <a:t> </a:t>
            </a:r>
            <a:r>
              <a:rPr sz="1600" dirty="0" err="1"/>
              <a:t>النطاق</a:t>
            </a:r>
            <a:r>
              <a:rPr sz="1600" dirty="0"/>
              <a:t> </a:t>
            </a:r>
            <a:r>
              <a:rPr sz="1600" dirty="0" err="1"/>
              <a:t>وإدراجه</a:t>
            </a:r>
            <a:r>
              <a:rPr sz="1600" dirty="0"/>
              <a:t> </a:t>
            </a: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سجلات</a:t>
            </a:r>
            <a:r>
              <a:rPr sz="1600" dirty="0"/>
              <a:t> </a:t>
            </a:r>
            <a:r>
              <a:rPr sz="1600" dirty="0" err="1"/>
              <a:t>الدولة</a:t>
            </a:r>
            <a:r>
              <a:rPr sz="1600" dirty="0"/>
              <a:t> </a:t>
            </a:r>
            <a:r>
              <a:rPr sz="1600" dirty="0" err="1"/>
              <a:t>الرسمية</a:t>
            </a:r>
            <a:r>
              <a:rPr sz="16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566160" cy="2011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400" b="1">
                <a:solidFill>
                  <a:srgbClr val="1E6F50"/>
                </a:solidFill>
                <a:latin typeface="Arial"/>
              </a:defRPr>
            </a:pPr>
            <a:r>
              <a:rPr dirty="0"/>
              <a:t>💰 </a:t>
            </a:r>
            <a:r>
              <a:rPr dirty="0" err="1"/>
              <a:t>التكلفة</a:t>
            </a:r>
            <a:r>
              <a:rPr dirty="0"/>
              <a:t> </a:t>
            </a:r>
            <a:r>
              <a:rPr dirty="0" err="1"/>
              <a:t>المالية</a:t>
            </a:r>
            <a:r>
              <a:rPr dirty="0"/>
              <a:t> </a:t>
            </a:r>
            <a:r>
              <a:rPr dirty="0" err="1"/>
              <a:t>لنطاق</a:t>
            </a:r>
            <a:r>
              <a:rPr dirty="0"/>
              <a:t> .gov.lb</a:t>
            </a:r>
          </a:p>
          <a:p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مجاني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100% (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أو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برسم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إداري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رمزي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جدا</a:t>
            </a:r>
            <a:r>
              <a:rPr dirty="0" err="1"/>
              <a:t>ً</a:t>
            </a:r>
            <a:r>
              <a:rPr dirty="0"/>
              <a:t>)</a:t>
            </a:r>
          </a:p>
          <a:p>
            <a:pPr algn="ctr" rtl="1">
              <a:defRPr sz="1000" b="0">
                <a:solidFill>
                  <a:srgbClr val="1E293B"/>
                </a:solidFill>
                <a:latin typeface="Arial"/>
              </a:defRPr>
            </a:pPr>
            <a:r>
              <a:rPr dirty="0" err="1"/>
              <a:t>تقدم</a:t>
            </a:r>
            <a:r>
              <a:rPr dirty="0"/>
              <a:t> </a:t>
            </a:r>
            <a:r>
              <a:rPr dirty="0" err="1"/>
              <a:t>الدولة</a:t>
            </a:r>
            <a:r>
              <a:rPr dirty="0"/>
              <a:t> </a:t>
            </a:r>
            <a:r>
              <a:rPr dirty="0" err="1"/>
              <a:t>اللبنانية</a:t>
            </a:r>
            <a:r>
              <a:rPr dirty="0"/>
              <a:t> </a:t>
            </a:r>
            <a:r>
              <a:rPr dirty="0" err="1"/>
              <a:t>نطاقات</a:t>
            </a:r>
            <a:r>
              <a:rPr dirty="0"/>
              <a:t> .gov.lb </a:t>
            </a:r>
            <a:r>
              <a:rPr dirty="0" err="1"/>
              <a:t>مجاناً</a:t>
            </a:r>
            <a:r>
              <a:rPr dirty="0"/>
              <a:t> </a:t>
            </a:r>
            <a:r>
              <a:rPr dirty="0" err="1"/>
              <a:t>للإدارات</a:t>
            </a:r>
            <a:r>
              <a:rPr dirty="0"/>
              <a:t> </a:t>
            </a:r>
            <a:r>
              <a:rPr dirty="0" err="1"/>
              <a:t>العامة</a:t>
            </a:r>
            <a:r>
              <a:rPr dirty="0"/>
              <a:t> </a:t>
            </a:r>
            <a:r>
              <a:rPr dirty="0" err="1"/>
              <a:t>والبلديات</a:t>
            </a:r>
            <a:r>
              <a:rPr dirty="0"/>
              <a:t> </a:t>
            </a:r>
            <a:r>
              <a:rPr dirty="0" err="1"/>
              <a:t>لدعم</a:t>
            </a:r>
            <a:r>
              <a:rPr dirty="0"/>
              <a:t> </a:t>
            </a:r>
            <a:r>
              <a:rPr dirty="0" err="1"/>
              <a:t>التحول</a:t>
            </a:r>
            <a:r>
              <a:rPr dirty="0"/>
              <a:t> </a:t>
            </a:r>
            <a:r>
              <a:rPr dirty="0" err="1"/>
              <a:t>الرقمي</a:t>
            </a:r>
            <a:r>
              <a:rPr dirty="0"/>
              <a:t> </a:t>
            </a:r>
            <a:r>
              <a:rPr dirty="0" err="1"/>
              <a:t>ومشاريع</a:t>
            </a:r>
            <a:r>
              <a:rPr dirty="0"/>
              <a:t> </a:t>
            </a:r>
            <a:r>
              <a:rPr dirty="0" err="1"/>
              <a:t>الحوكمة</a:t>
            </a:r>
            <a:r>
              <a:rPr dirty="0"/>
              <a:t> </a:t>
            </a:r>
            <a:r>
              <a:rPr dirty="0" err="1"/>
              <a:t>الإلكترونية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840480"/>
            <a:ext cx="356616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300" b="1">
                <a:solidFill>
                  <a:srgbClr val="0F2942"/>
                </a:solidFill>
                <a:latin typeface="Arial"/>
              </a:defRPr>
            </a:pPr>
            <a:r>
              <a:rPr dirty="0"/>
              <a:t>⭐ </a:t>
            </a:r>
            <a:r>
              <a:rPr dirty="0" err="1"/>
              <a:t>القيمة</a:t>
            </a:r>
            <a:r>
              <a:rPr dirty="0"/>
              <a:t> </a:t>
            </a:r>
            <a:r>
              <a:rPr dirty="0" err="1"/>
              <a:t>الاستراتيجية</a:t>
            </a:r>
            <a:r>
              <a:rPr dirty="0"/>
              <a:t> </a:t>
            </a:r>
            <a:r>
              <a:rPr dirty="0" err="1"/>
              <a:t>والسيادية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الحصانة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ضد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التزوير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لا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يمكن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لأي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جهة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غير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البلدية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حجز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هذا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النطاق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ثقة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مطلقة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للمواطن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يعلم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الزائر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أنه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داخل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الموقع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الرسمي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الحصري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للدولة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الحماية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القانونية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محمي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بالقوانين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والمراسيم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اللبنانية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المنظمة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للنطاقات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1">
                <a:solidFill>
                  <a:srgbClr val="1E6F50"/>
                </a:solidFill>
                <a:latin typeface="Arial"/>
              </a:defRPr>
            </a:pPr>
            <a:r>
              <a:t>بلدية بدنايل | بوابة التحول الرقمي والحكومة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400" b="1">
                <a:solidFill>
                  <a:srgbClr val="0F2942"/>
                </a:solidFill>
                <a:latin typeface="Arial"/>
              </a:defRPr>
            </a:pPr>
            <a:r>
              <a:t>النطاق التجاري الدولي (.com) — الآلية، الميزات، والتكلفة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000" b="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8 من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6858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6858000" cy="5486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defRPr sz="1400" b="1">
                <a:solidFill>
                  <a:srgbClr val="FFFFFF"/>
                </a:solidFill>
                <a:latin typeface="Arial"/>
              </a:defRPr>
            </a:pPr>
            <a:r>
              <a:t>🌐 آلية وخطوات حجز نطاق (bednayelmunicipality.com)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64922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🔸 </a:t>
            </a:r>
            <a:r>
              <a:rPr sz="1600" dirty="0" err="1"/>
              <a:t>الخيارات</a:t>
            </a:r>
            <a:r>
              <a:rPr sz="1600" dirty="0"/>
              <a:t> </a:t>
            </a:r>
            <a:r>
              <a:rPr sz="1600" dirty="0" err="1"/>
              <a:t>المقترحة</a:t>
            </a:r>
            <a:r>
              <a:rPr sz="1600" dirty="0"/>
              <a:t> </a:t>
            </a:r>
            <a:r>
              <a:rPr sz="1600" dirty="0" err="1"/>
              <a:t>للاسم</a:t>
            </a:r>
            <a:r>
              <a:rPr sz="1600" dirty="0"/>
              <a:t>: bednayelmunicipality.com </a:t>
            </a:r>
            <a:r>
              <a:rPr sz="1600" dirty="0" err="1"/>
              <a:t>أو</a:t>
            </a:r>
            <a:r>
              <a:rPr sz="1600" dirty="0"/>
              <a:t> bednayel-municipality.com </a:t>
            </a:r>
            <a:r>
              <a:rPr sz="1600" dirty="0" err="1"/>
              <a:t>أو</a:t>
            </a:r>
            <a:r>
              <a:rPr sz="1600" dirty="0"/>
              <a:t> baladiyetbednayel.com</a:t>
            </a:r>
          </a:p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🔸 1. </a:t>
            </a:r>
            <a:r>
              <a:rPr sz="1600" dirty="0" err="1"/>
              <a:t>اختيار</a:t>
            </a:r>
            <a:r>
              <a:rPr sz="1600" dirty="0"/>
              <a:t> </a:t>
            </a:r>
            <a:r>
              <a:rPr sz="1600" dirty="0" err="1"/>
              <a:t>مسجل</a:t>
            </a:r>
            <a:r>
              <a:rPr sz="1600" dirty="0"/>
              <a:t> </a:t>
            </a:r>
            <a:r>
              <a:rPr sz="1600" dirty="0" err="1"/>
              <a:t>النطاقات</a:t>
            </a:r>
            <a:r>
              <a:rPr sz="1600" dirty="0"/>
              <a:t> </a:t>
            </a:r>
            <a:r>
              <a:rPr sz="1600" dirty="0" err="1"/>
              <a:t>العالمي</a:t>
            </a:r>
            <a:r>
              <a:rPr sz="1600" dirty="0"/>
              <a:t>: </a:t>
            </a:r>
            <a:r>
              <a:rPr sz="1600" dirty="0" err="1"/>
              <a:t>المسجلون</a:t>
            </a:r>
            <a:r>
              <a:rPr sz="1600" dirty="0"/>
              <a:t> </a:t>
            </a:r>
            <a:r>
              <a:rPr sz="1600" dirty="0" err="1"/>
              <a:t>الموصى</a:t>
            </a:r>
            <a:r>
              <a:rPr sz="1600" dirty="0"/>
              <a:t> </a:t>
            </a:r>
            <a:r>
              <a:rPr sz="1600" dirty="0" err="1"/>
              <a:t>بهم</a:t>
            </a:r>
            <a:r>
              <a:rPr sz="1600" dirty="0"/>
              <a:t>: Namecheap </a:t>
            </a:r>
            <a:r>
              <a:rPr sz="1600" dirty="0" err="1"/>
              <a:t>أو</a:t>
            </a:r>
            <a:r>
              <a:rPr sz="1600" dirty="0"/>
              <a:t> Cloudflare Registrar </a:t>
            </a:r>
            <a:r>
              <a:rPr sz="1600" dirty="0" err="1"/>
              <a:t>أو</a:t>
            </a:r>
            <a:r>
              <a:rPr sz="1600" dirty="0"/>
              <a:t> GoDaddy (</a:t>
            </a:r>
            <a:r>
              <a:rPr sz="1600" dirty="0" err="1"/>
              <a:t>مسجلون</a:t>
            </a:r>
            <a:r>
              <a:rPr sz="1600" dirty="0"/>
              <a:t> </a:t>
            </a:r>
            <a:r>
              <a:rPr sz="1600" dirty="0" err="1"/>
              <a:t>عالميون</a:t>
            </a:r>
            <a:r>
              <a:rPr sz="1600" dirty="0"/>
              <a:t> </a:t>
            </a:r>
            <a:r>
              <a:rPr sz="1600" dirty="0" err="1"/>
              <a:t>معتمدون</a:t>
            </a:r>
            <a:r>
              <a:rPr sz="1600" dirty="0"/>
              <a:t> </a:t>
            </a:r>
            <a:r>
              <a:rPr sz="1600" dirty="0" err="1"/>
              <a:t>لدى</a:t>
            </a:r>
            <a:r>
              <a:rPr sz="1600" dirty="0"/>
              <a:t> ICANN).</a:t>
            </a:r>
          </a:p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🔸 2. </a:t>
            </a:r>
            <a:r>
              <a:rPr sz="1600" dirty="0" err="1"/>
              <a:t>الفحص</a:t>
            </a:r>
            <a:r>
              <a:rPr sz="1600" dirty="0"/>
              <a:t> </a:t>
            </a:r>
            <a:r>
              <a:rPr sz="1600" dirty="0" err="1"/>
              <a:t>الفوري</a:t>
            </a:r>
            <a:r>
              <a:rPr sz="1600" dirty="0"/>
              <a:t> </a:t>
            </a:r>
            <a:r>
              <a:rPr sz="1600" dirty="0" err="1"/>
              <a:t>للتوفر</a:t>
            </a:r>
            <a:r>
              <a:rPr sz="1600" dirty="0"/>
              <a:t>: </a:t>
            </a:r>
            <a:r>
              <a:rPr sz="1600" dirty="0" err="1"/>
              <a:t>البحث</a:t>
            </a:r>
            <a:r>
              <a:rPr sz="1600" dirty="0"/>
              <a:t> </a:t>
            </a:r>
            <a:r>
              <a:rPr sz="1600" dirty="0" err="1"/>
              <a:t>الإلكتروني</a:t>
            </a:r>
            <a:r>
              <a:rPr sz="1600" dirty="0"/>
              <a:t> </a:t>
            </a:r>
            <a:r>
              <a:rPr sz="1600" dirty="0" err="1"/>
              <a:t>المباشر</a:t>
            </a:r>
            <a:r>
              <a:rPr sz="1600" dirty="0"/>
              <a:t> </a:t>
            </a:r>
            <a:r>
              <a:rPr sz="1600" dirty="0" err="1"/>
              <a:t>عن</a:t>
            </a:r>
            <a:r>
              <a:rPr sz="1600" dirty="0"/>
              <a:t> </a:t>
            </a:r>
            <a:r>
              <a:rPr sz="1600" dirty="0" err="1"/>
              <a:t>الاسم</a:t>
            </a:r>
            <a:r>
              <a:rPr sz="1600" dirty="0"/>
              <a:t> </a:t>
            </a:r>
            <a:r>
              <a:rPr sz="1600" dirty="0" err="1"/>
              <a:t>والتأكد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إتاحته</a:t>
            </a:r>
            <a:r>
              <a:rPr sz="1600" dirty="0"/>
              <a:t> </a:t>
            </a:r>
            <a:r>
              <a:rPr sz="1600" dirty="0" err="1"/>
              <a:t>للحجز</a:t>
            </a:r>
            <a:r>
              <a:rPr sz="1600" dirty="0"/>
              <a:t> </a:t>
            </a:r>
            <a:r>
              <a:rPr sz="1600" dirty="0" err="1"/>
              <a:t>غير</a:t>
            </a:r>
            <a:r>
              <a:rPr sz="1600" dirty="0"/>
              <a:t> </a:t>
            </a:r>
            <a:r>
              <a:rPr sz="1600" dirty="0" err="1"/>
              <a:t>المحجوز</a:t>
            </a:r>
            <a:r>
              <a:rPr sz="1600" dirty="0"/>
              <a:t>.</a:t>
            </a:r>
          </a:p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🔸 3. </a:t>
            </a:r>
            <a:r>
              <a:rPr sz="1600" dirty="0" err="1"/>
              <a:t>الدفع</a:t>
            </a:r>
            <a:r>
              <a:rPr sz="1600" dirty="0"/>
              <a:t> </a:t>
            </a:r>
            <a:r>
              <a:rPr sz="1600" dirty="0" err="1"/>
              <a:t>والتسجيل</a:t>
            </a:r>
            <a:r>
              <a:rPr sz="1600" dirty="0"/>
              <a:t> </a:t>
            </a:r>
            <a:r>
              <a:rPr sz="1600" dirty="0" err="1"/>
              <a:t>الإلكتروني</a:t>
            </a:r>
            <a:r>
              <a:rPr sz="1600" dirty="0"/>
              <a:t>: </a:t>
            </a:r>
            <a:r>
              <a:rPr sz="1600" dirty="0" err="1"/>
              <a:t>تسجيل</a:t>
            </a:r>
            <a:r>
              <a:rPr sz="1600" dirty="0"/>
              <a:t> </a:t>
            </a:r>
            <a:r>
              <a:rPr sz="1600" dirty="0" err="1"/>
              <a:t>الحساب</a:t>
            </a:r>
            <a:r>
              <a:rPr sz="1600" dirty="0"/>
              <a:t> </a:t>
            </a:r>
            <a:r>
              <a:rPr sz="1600" dirty="0" err="1"/>
              <a:t>باسم</a:t>
            </a:r>
            <a:r>
              <a:rPr sz="1600" dirty="0"/>
              <a:t> </a:t>
            </a:r>
            <a:r>
              <a:rPr sz="1600" dirty="0" err="1"/>
              <a:t>بلدية</a:t>
            </a:r>
            <a:r>
              <a:rPr sz="1600" dirty="0"/>
              <a:t> </a:t>
            </a:r>
            <a:r>
              <a:rPr sz="1600" dirty="0" err="1"/>
              <a:t>بدنايل</a:t>
            </a:r>
            <a:r>
              <a:rPr sz="1600" dirty="0"/>
              <a:t>، </a:t>
            </a:r>
            <a:r>
              <a:rPr sz="1600" dirty="0" err="1"/>
              <a:t>وتعبئة</a:t>
            </a:r>
            <a:r>
              <a:rPr sz="1600" dirty="0"/>
              <a:t> </a:t>
            </a:r>
            <a:r>
              <a:rPr sz="1600" dirty="0" err="1"/>
              <a:t>بيانات</a:t>
            </a:r>
            <a:r>
              <a:rPr sz="1600" dirty="0"/>
              <a:t> </a:t>
            </a:r>
            <a:r>
              <a:rPr sz="1600" dirty="0" err="1"/>
              <a:t>الاتصال</a:t>
            </a:r>
            <a:r>
              <a:rPr sz="1600" dirty="0"/>
              <a:t>، </a:t>
            </a:r>
            <a:r>
              <a:rPr sz="1600" dirty="0" err="1"/>
              <a:t>وإتمام</a:t>
            </a:r>
            <a:r>
              <a:rPr sz="1600" dirty="0"/>
              <a:t> </a:t>
            </a:r>
            <a:r>
              <a:rPr sz="1600" dirty="0" err="1"/>
              <a:t>عملية</a:t>
            </a:r>
            <a:r>
              <a:rPr sz="1600" dirty="0"/>
              <a:t> </a:t>
            </a:r>
            <a:r>
              <a:rPr sz="1600" dirty="0" err="1"/>
              <a:t>الشراء</a:t>
            </a:r>
            <a:r>
              <a:rPr sz="1600" dirty="0"/>
              <a:t> </a:t>
            </a:r>
            <a:r>
              <a:rPr sz="1600" dirty="0" err="1"/>
              <a:t>فوراً</a:t>
            </a:r>
            <a:r>
              <a:rPr sz="1600" dirty="0"/>
              <a:t> </a:t>
            </a:r>
            <a:r>
              <a:rPr sz="1600" dirty="0" err="1"/>
              <a:t>بواسطة</a:t>
            </a:r>
            <a:r>
              <a:rPr sz="1600" dirty="0"/>
              <a:t> </a:t>
            </a:r>
            <a:r>
              <a:rPr sz="1600" dirty="0" err="1"/>
              <a:t>بطاقة</a:t>
            </a:r>
            <a:r>
              <a:rPr sz="1600" dirty="0"/>
              <a:t> </a:t>
            </a:r>
            <a:r>
              <a:rPr sz="1600" dirty="0" err="1"/>
              <a:t>مصرفية</a:t>
            </a:r>
            <a:r>
              <a:rPr sz="1600" dirty="0"/>
              <a:t> (Visa/Mastercard).</a:t>
            </a:r>
          </a:p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🔸 4. </a:t>
            </a:r>
            <a:r>
              <a:rPr sz="1600" dirty="0" err="1"/>
              <a:t>حماية</a:t>
            </a:r>
            <a:r>
              <a:rPr sz="1600" dirty="0"/>
              <a:t> </a:t>
            </a:r>
            <a:r>
              <a:rPr sz="1600" dirty="0" err="1"/>
              <a:t>الخصوصية</a:t>
            </a:r>
            <a:r>
              <a:rPr sz="1600" dirty="0"/>
              <a:t> (WHOIS Privacy): </a:t>
            </a:r>
            <a:r>
              <a:rPr sz="1600" dirty="0" err="1"/>
              <a:t>تفعيل</a:t>
            </a:r>
            <a:r>
              <a:rPr sz="1600" dirty="0"/>
              <a:t> </a:t>
            </a:r>
            <a:r>
              <a:rPr sz="1600" dirty="0" err="1"/>
              <a:t>خدمة</a:t>
            </a:r>
            <a:r>
              <a:rPr sz="1600" dirty="0"/>
              <a:t> </a:t>
            </a:r>
            <a:r>
              <a:rPr sz="1600" dirty="0" err="1"/>
              <a:t>إخفاء</a:t>
            </a:r>
            <a:r>
              <a:rPr sz="1600" dirty="0"/>
              <a:t> </a:t>
            </a:r>
            <a:r>
              <a:rPr sz="1600" dirty="0" err="1"/>
              <a:t>البيانات</a:t>
            </a:r>
            <a:r>
              <a:rPr sz="1600" dirty="0"/>
              <a:t> </a:t>
            </a:r>
            <a:r>
              <a:rPr sz="1600" dirty="0" err="1"/>
              <a:t>الشخصية</a:t>
            </a:r>
            <a:r>
              <a:rPr sz="1600" dirty="0"/>
              <a:t> </a:t>
            </a:r>
            <a:r>
              <a:rPr sz="1600" dirty="0" err="1"/>
              <a:t>للمسجل</a:t>
            </a:r>
            <a:r>
              <a:rPr sz="1600" dirty="0"/>
              <a:t> </a:t>
            </a:r>
            <a:r>
              <a:rPr sz="1600" dirty="0" err="1"/>
              <a:t>مجاناً</a:t>
            </a:r>
            <a:r>
              <a:rPr sz="1600" dirty="0"/>
              <a:t> </a:t>
            </a:r>
            <a:r>
              <a:rPr sz="1600" dirty="0" err="1"/>
              <a:t>لمنع</a:t>
            </a:r>
            <a:r>
              <a:rPr sz="1600" dirty="0"/>
              <a:t> </a:t>
            </a:r>
            <a:r>
              <a:rPr sz="1600" dirty="0" err="1"/>
              <a:t>استقبال</a:t>
            </a:r>
            <a:r>
              <a:rPr sz="1600" dirty="0"/>
              <a:t> </a:t>
            </a:r>
            <a:r>
              <a:rPr sz="1600" dirty="0" err="1"/>
              <a:t>رسائل</a:t>
            </a:r>
            <a:r>
              <a:rPr sz="1600" dirty="0"/>
              <a:t> </a:t>
            </a:r>
            <a:r>
              <a:rPr sz="1600" dirty="0" err="1"/>
              <a:t>الترويج</a:t>
            </a:r>
            <a:r>
              <a:rPr sz="1600" dirty="0"/>
              <a:t> </a:t>
            </a:r>
            <a:r>
              <a:rPr sz="1600" dirty="0" err="1"/>
              <a:t>المزعجة</a:t>
            </a:r>
            <a:r>
              <a:rPr sz="1600" dirty="0"/>
              <a:t>.</a:t>
            </a:r>
          </a:p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🔸 5. </a:t>
            </a:r>
            <a:r>
              <a:rPr sz="1600" dirty="0" err="1"/>
              <a:t>التفعيل</a:t>
            </a:r>
            <a:r>
              <a:rPr sz="1600" dirty="0"/>
              <a:t> </a:t>
            </a:r>
            <a:r>
              <a:rPr sz="1600" dirty="0" err="1"/>
              <a:t>الفوري</a:t>
            </a:r>
            <a:r>
              <a:rPr sz="1600" dirty="0"/>
              <a:t> </a:t>
            </a:r>
            <a:r>
              <a:rPr sz="1600" dirty="0" err="1"/>
              <a:t>والربط</a:t>
            </a:r>
            <a:r>
              <a:rPr sz="1600" dirty="0"/>
              <a:t>: </a:t>
            </a:r>
            <a:r>
              <a:rPr sz="1600" dirty="0" err="1"/>
              <a:t>يتم</a:t>
            </a:r>
            <a:r>
              <a:rPr sz="1600" dirty="0"/>
              <a:t> </a:t>
            </a:r>
            <a:r>
              <a:rPr sz="1600" dirty="0" err="1"/>
              <a:t>تفعيل</a:t>
            </a:r>
            <a:r>
              <a:rPr sz="1600" dirty="0"/>
              <a:t> </a:t>
            </a:r>
            <a:r>
              <a:rPr sz="1600" dirty="0" err="1"/>
              <a:t>النطاق</a:t>
            </a:r>
            <a:r>
              <a:rPr sz="1600" dirty="0"/>
              <a:t> </a:t>
            </a:r>
            <a:r>
              <a:rPr sz="1600" dirty="0" err="1"/>
              <a:t>خلال</a:t>
            </a:r>
            <a:r>
              <a:rPr sz="1600" dirty="0"/>
              <a:t> </a:t>
            </a:r>
            <a:r>
              <a:rPr sz="1600" dirty="0" err="1"/>
              <a:t>دقائق</a:t>
            </a:r>
            <a:r>
              <a:rPr sz="1600" dirty="0"/>
              <a:t> </a:t>
            </a:r>
            <a:r>
              <a:rPr sz="1600" dirty="0" err="1"/>
              <a:t>معدودة</a:t>
            </a:r>
            <a:r>
              <a:rPr sz="1600" dirty="0"/>
              <a:t>، </a:t>
            </a:r>
            <a:r>
              <a:rPr sz="1600" dirty="0" err="1"/>
              <a:t>وربط</a:t>
            </a:r>
            <a:r>
              <a:rPr sz="1600" dirty="0"/>
              <a:t> </a:t>
            </a:r>
            <a:r>
              <a:rPr sz="1600" dirty="0" err="1"/>
              <a:t>سجلات</a:t>
            </a:r>
            <a:r>
              <a:rPr sz="1600" dirty="0"/>
              <a:t> A </a:t>
            </a:r>
            <a:r>
              <a:rPr sz="1600" dirty="0" err="1"/>
              <a:t>وCNAME</a:t>
            </a:r>
            <a:r>
              <a:rPr sz="1600" dirty="0"/>
              <a:t> </a:t>
            </a:r>
            <a:r>
              <a:rPr sz="1600" dirty="0" err="1"/>
              <a:t>بخادم</a:t>
            </a:r>
            <a:r>
              <a:rPr sz="1600" dirty="0"/>
              <a:t> </a:t>
            </a:r>
            <a:r>
              <a:rPr sz="1600" dirty="0" err="1"/>
              <a:t>الاستضافة</a:t>
            </a:r>
            <a:r>
              <a:rPr sz="1600" dirty="0"/>
              <a:t> </a:t>
            </a:r>
            <a:r>
              <a:rPr sz="1600" dirty="0" err="1"/>
              <a:t>دون</a:t>
            </a:r>
            <a:r>
              <a:rPr sz="1600" dirty="0"/>
              <a:t> </a:t>
            </a:r>
            <a:r>
              <a:rPr sz="1600" dirty="0" err="1"/>
              <a:t>أي</a:t>
            </a:r>
            <a:r>
              <a:rPr sz="1600" dirty="0"/>
              <a:t> </a:t>
            </a:r>
            <a:r>
              <a:rPr sz="1600" dirty="0" err="1"/>
              <a:t>معاملات</a:t>
            </a:r>
            <a:r>
              <a:rPr sz="1600" dirty="0"/>
              <a:t> </a:t>
            </a:r>
            <a:r>
              <a:rPr sz="1600" dirty="0" err="1"/>
              <a:t>ورقية</a:t>
            </a:r>
            <a:r>
              <a:rPr sz="16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56616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400" b="1">
                <a:solidFill>
                  <a:srgbClr val="0F2942"/>
                </a:solidFill>
                <a:latin typeface="Arial"/>
              </a:defRPr>
            </a:pPr>
            <a:r>
              <a:rPr dirty="0"/>
              <a:t>💳 </a:t>
            </a:r>
            <a:r>
              <a:rPr dirty="0" err="1"/>
              <a:t>تكلفة</a:t>
            </a:r>
            <a:r>
              <a:rPr dirty="0"/>
              <a:t> </a:t>
            </a:r>
            <a:r>
              <a:rPr dirty="0" err="1"/>
              <a:t>حجز</a:t>
            </a:r>
            <a:r>
              <a:rPr dirty="0"/>
              <a:t> </a:t>
            </a:r>
            <a:r>
              <a:rPr dirty="0" err="1"/>
              <a:t>وتجديد</a:t>
            </a:r>
            <a:r>
              <a:rPr dirty="0"/>
              <a:t> </a:t>
            </a:r>
            <a:r>
              <a:rPr dirty="0" err="1"/>
              <a:t>نطاق</a:t>
            </a:r>
            <a:r>
              <a:rPr dirty="0"/>
              <a:t> .com</a:t>
            </a:r>
          </a:p>
          <a:p>
            <a:br>
              <a:rPr dirty="0"/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$10.00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إلى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$14.00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سنوياً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 rtl="1">
              <a:defRPr sz="950" b="0">
                <a:solidFill>
                  <a:srgbClr val="1E293B"/>
                </a:solidFill>
                <a:latin typeface="Arial"/>
              </a:defRPr>
            </a:pPr>
            <a:r>
              <a:rPr dirty="0"/>
              <a:t>(</a:t>
            </a:r>
            <a:r>
              <a:rPr dirty="0" err="1"/>
              <a:t>حوالي</a:t>
            </a:r>
            <a:r>
              <a:rPr dirty="0"/>
              <a:t> 900,000 </a:t>
            </a:r>
            <a:r>
              <a:rPr dirty="0" err="1"/>
              <a:t>إلى</a:t>
            </a:r>
            <a:r>
              <a:rPr dirty="0"/>
              <a:t> 1,250,000 </a:t>
            </a:r>
            <a:r>
              <a:rPr dirty="0" err="1"/>
              <a:t>ليرة</a:t>
            </a:r>
            <a:r>
              <a:rPr dirty="0"/>
              <a:t> </a:t>
            </a:r>
            <a:r>
              <a:rPr dirty="0" err="1"/>
              <a:t>لبنانية</a:t>
            </a:r>
            <a:r>
              <a:rPr dirty="0"/>
              <a:t> </a:t>
            </a:r>
            <a:r>
              <a:rPr dirty="0" err="1"/>
              <a:t>سنوياً</a:t>
            </a:r>
            <a:r>
              <a:rPr dirty="0"/>
              <a:t> </a:t>
            </a:r>
            <a:r>
              <a:rPr dirty="0" err="1"/>
              <a:t>فقط</a:t>
            </a:r>
            <a:r>
              <a:rPr dirty="0"/>
              <a:t>) </a:t>
            </a:r>
            <a:r>
              <a:rPr dirty="0" err="1"/>
              <a:t>شامل</a:t>
            </a:r>
            <a:r>
              <a:rPr dirty="0"/>
              <a:t> </a:t>
            </a:r>
            <a:r>
              <a:rPr dirty="0" err="1"/>
              <a:t>حماية</a:t>
            </a:r>
            <a:r>
              <a:rPr dirty="0"/>
              <a:t> </a:t>
            </a:r>
            <a:r>
              <a:rPr dirty="0" err="1"/>
              <a:t>ال</a:t>
            </a:r>
            <a:r>
              <a:rPr dirty="0"/>
              <a:t>ـ WHOIS </a:t>
            </a:r>
            <a:r>
              <a:rPr dirty="0" err="1"/>
              <a:t>مجاناً</a:t>
            </a:r>
            <a:r>
              <a:rPr dirty="0"/>
              <a:t> </a:t>
            </a:r>
            <a:r>
              <a:rPr dirty="0" err="1"/>
              <a:t>وبدون</a:t>
            </a:r>
            <a:r>
              <a:rPr dirty="0"/>
              <a:t> </a:t>
            </a:r>
            <a:r>
              <a:rPr dirty="0" err="1"/>
              <a:t>أي</a:t>
            </a:r>
            <a:r>
              <a:rPr dirty="0"/>
              <a:t> </a:t>
            </a:r>
            <a:r>
              <a:rPr dirty="0" err="1"/>
              <a:t>ضرائب</a:t>
            </a:r>
            <a:r>
              <a:rPr dirty="0"/>
              <a:t> </a:t>
            </a:r>
            <a:r>
              <a:rPr dirty="0" err="1"/>
              <a:t>إضافية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840480"/>
            <a:ext cx="356616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300" b="1">
                <a:solidFill>
                  <a:srgbClr val="0F2942"/>
                </a:solidFill>
                <a:latin typeface="Arial"/>
              </a:defRPr>
            </a:pPr>
            <a:r>
              <a:rPr dirty="0"/>
              <a:t>⚡ </a:t>
            </a:r>
            <a:r>
              <a:rPr dirty="0" err="1"/>
              <a:t>أهم</a:t>
            </a:r>
            <a:r>
              <a:rPr dirty="0"/>
              <a:t> </a:t>
            </a:r>
            <a:r>
              <a:rPr dirty="0" err="1"/>
              <a:t>ميزات</a:t>
            </a:r>
            <a:r>
              <a:rPr dirty="0"/>
              <a:t> </a:t>
            </a:r>
            <a:r>
              <a:rPr dirty="0" err="1"/>
              <a:t>وعيوب</a:t>
            </a:r>
            <a:r>
              <a:rPr dirty="0"/>
              <a:t> </a:t>
            </a:r>
            <a:r>
              <a:rPr dirty="0" err="1"/>
              <a:t>نطاق</a:t>
            </a:r>
            <a:r>
              <a:rPr dirty="0"/>
              <a:t> .com</a:t>
            </a:r>
          </a:p>
          <a:p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(+)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سرعة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قصوى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يعمل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فوراً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بعد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الدفع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خلال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5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دقائق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(+)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وصول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عالمي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سهل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التذكر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لجميع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المقيمين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والمغتربين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(-)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التحدي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يفتقر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للصفة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السيادية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الرسمية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الممنوحة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حصراً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للبلديات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من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الدولة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اللبنانية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1">
                <a:solidFill>
                  <a:srgbClr val="1E6F50"/>
                </a:solidFill>
                <a:latin typeface="Arial"/>
              </a:defRPr>
            </a:pPr>
            <a:r>
              <a:t>بلدية بدنايل | بوابة التحول الرقمي والحكومة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400" b="1">
                <a:solidFill>
                  <a:srgbClr val="0F2942"/>
                </a:solidFill>
                <a:latin typeface="Arial"/>
              </a:defRPr>
            </a:pPr>
            <a:r>
              <a:t>مقارنة النطاقات والتوصية الاستراتيجية المعتمدة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000" b="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9 من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25603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 rtl="1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وجه المقارنة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النطاق الحكومي (.gov.lb)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النطاق التجاري (.com)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التقييم البلدي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الصفة والمصداقية الرسمية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سيادية ورسمية 100% تابعة للدولة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تجارية عامة متاحة لأي شخص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1E6F50"/>
                          </a:solidFill>
                          <a:latin typeface="Arial"/>
                        </a:defRPr>
                      </a:pPr>
                      <a:r>
                        <a:t>الأفضلية المطلقة لـ .gov.lb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التكلفة المالية السنوية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مجاني (أو رسم حكومي رمزي جداً)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$10 - $14 سنوياً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1E6F50"/>
                          </a:solidFill>
                          <a:latin typeface="Arial"/>
                        </a:defRPr>
                      </a:pPr>
                      <a:r>
                        <a:t>كلاهما منخفض جداً واقتصادي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الإجراءات وسرعة التفعيل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تتطلب كتاباً رسمياً (5 - 15 يوماً)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دفع فوري بالبطاقة (خلال 5 دقائق)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1E6F50"/>
                          </a:solidFill>
                          <a:latin typeface="Arial"/>
                        </a:defRPr>
                      </a:pPr>
                      <a:r>
                        <a:t>الأسرع هو 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حماية الاسم من الانتحال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محمي ومخصص حصراً للمجلس البلدي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قد يشتريه أي شخص إذا لم تحجزه البلدية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00" b="1">
                          <a:solidFill>
                            <a:srgbClr val="1E6F50"/>
                          </a:solidFill>
                          <a:latin typeface="Arial"/>
                        </a:defRPr>
                      </a:pPr>
                      <a:r>
                        <a:t>حجز كلاهما يضمن الأمان التام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434840"/>
            <a:ext cx="10728655" cy="17373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 rtl="1">
              <a:defRPr sz="1300" b="1">
                <a:solidFill>
                  <a:srgbClr val="1E6F50"/>
                </a:solidFill>
                <a:latin typeface="Arial"/>
              </a:defRPr>
            </a:pPr>
            <a:r>
              <a:t>🎯 التوصية الفنية والاستراتيجية المعتمدة (The Golden Strategy):</a:t>
            </a:r>
          </a:p>
          <a:p>
            <a:pPr algn="r" rtl="1">
              <a:defRPr sz="1100" b="0">
                <a:solidFill>
                  <a:srgbClr val="1E293B"/>
                </a:solidFill>
                <a:latin typeface="Arial"/>
              </a:defRPr>
            </a:pPr>
            <a:r>
              <a:t>1. حجز النطاقين معاً: شراء نطاق bednayelmunicipality.com فوراً لضمان عدم استغلاله وحفظ هوية البلدية عالمياً وتفعيله في غضون دقائق.</a:t>
            </a:r>
            <a:br/>
            <a:r>
              <a:t>2. رفع المعاملة الرسمية بالتوازي لحجز نطاق bednayel.gov.lb عبر وزارة التنمية الإدارية ليكون هو العنوان السيادي الرسمي للبلدية.</a:t>
            </a:r>
            <a:br/>
            <a:r>
              <a:t>3. الربط الذكي والتحويل التلقائي: جعل النطاق .gov.lb هو الأساسي، وبرمجة النطاق .com ليقوم بإعادة تحويل الزائر تلقائياً (301 Redirect) للنطاق الحكومي، مما يحقق التكامل التام والمصداقية المطلقة بأقل من $15 سنوياً!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1">
                <a:solidFill>
                  <a:srgbClr val="1E6F50"/>
                </a:solidFill>
                <a:latin typeface="Arial"/>
              </a:defRPr>
            </a:pPr>
            <a:r>
              <a:t>بلدية بدنايل | بوابة التحول الرقمي والحكومة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400" b="1">
                <a:solidFill>
                  <a:srgbClr val="0F2942"/>
                </a:solidFill>
                <a:latin typeface="Arial"/>
              </a:defRPr>
            </a:pPr>
            <a:r>
              <a:t>الميزانية التشغيلية الشاملة للمنصة (الاستضافة + النطاقات + اشتراك Twilio)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000" b="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10 من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00200"/>
          <a:ext cx="10728654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1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rtl="1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البند والخدمة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المواصفات ومزود الخدمة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التكلفة الشهرية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التكلفة السنوية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rtl="1">
                        <a:defRPr sz="10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خادم سحابي VPS (كامل المواصفات)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 vCPU / 4GB RAM / 80GB NVMe (Hetzner أو Hostinger)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$7 - $10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$84 - $120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rtl="1">
                        <a:defRPr sz="10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اشتراك Twilio للرسائل والتحقق (OTP)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شحن رصيد مسبق الدفع (200-400 رسالة SMS / WhatsApp)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$15 - $22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$180 - $260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rtl="1">
                        <a:defRPr sz="10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النطاق الحكومي الرسمي (bednayel.gov.lb)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مكتب وزير الدولة لشؤون التنمية الإدارية (OMSAR)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مجاني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rtl="1">
                        <a:defRPr sz="10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النطاق التجاري (bednayelmunicipality.com)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مسجل معتمد (Namecheap / Cloudflare) مع حماية الهوية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$12.00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rtl="1">
                        <a:defRPr sz="10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شهادة الأمان والحماية والتسريع (SSL/CDN)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شبكة Cloudflare العالمية (حماية من الهجمات وتشفير)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مجاني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rtl="1">
                        <a:defRPr sz="10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النسخ الاحتياطي التلقائي (Automated Backups)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حفظ نسخة احتياطية مشفرة لقاعدة البيانات والملفات أسبوعياً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$1.50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defRPr sz="10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$18.00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937760"/>
            <a:ext cx="10728655" cy="123444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300" b="1">
                <a:solidFill>
                  <a:srgbClr val="D4A017"/>
                </a:solidFill>
                <a:latin typeface="Arial"/>
              </a:defRPr>
            </a:pPr>
            <a:r>
              <a:t>📊 إجمالي الميزانية السنوية الشاملة لكل المصاريف التشغيلية (استضافة + نطاقات + Twilio):</a:t>
            </a:r>
          </a:p>
          <a:p>
            <a:pPr algn="ctr" rtl="1">
              <a:defRPr sz="1550" b="1">
                <a:solidFill>
                  <a:srgbClr val="FFFFFF"/>
                </a:solidFill>
                <a:latin typeface="Arial"/>
              </a:defRPr>
            </a:pPr>
            <a:r>
              <a:t>حوالي 294$ إلى 410$ دولار أمريكي سنوياً فقط لا غير (بما يعادل ~25$ إلى 34$ شهرياً شامل كافة الرسائل)!</a:t>
            </a:r>
          </a:p>
          <a:p>
            <a:pPr algn="ctr" rtl="1">
              <a:defRPr sz="1050" b="0">
                <a:solidFill>
                  <a:srgbClr val="CBD5E1"/>
                </a:solidFill>
                <a:latin typeface="Arial"/>
              </a:defRPr>
            </a:pPr>
            <a:r>
              <a:t>ميزانية اقتصادية جداً ومجدية تمنح بلدية بدنايل منصة ذكية مكتملة الأركان وموثقة أمنياً بهواتف المواطنين.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1">
                <a:solidFill>
                  <a:srgbClr val="1E6F50"/>
                </a:solidFill>
                <a:latin typeface="Arial"/>
              </a:defRPr>
            </a:pPr>
            <a:r>
              <a:t>بلدية بدنايل | بوابة التحول الرقمي والحكومة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400" b="1">
                <a:solidFill>
                  <a:srgbClr val="0F2942"/>
                </a:solidFill>
                <a:latin typeface="Arial"/>
              </a:defRPr>
            </a:pPr>
            <a:r>
              <a:t>خارطة طريق الإطلاق والخطوات التنفيذية القادمة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000" b="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11 من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2514600" cy="7772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100" b="1">
                <a:solidFill>
                  <a:srgbClr val="D4A017"/>
                </a:solidFill>
                <a:latin typeface="Arial"/>
              </a:defRPr>
            </a:pPr>
            <a:r>
              <a:t>المرحلة الأولى</a:t>
            </a:r>
          </a:p>
          <a:p>
            <a:pPr algn="ctr" rtl="1">
              <a:defRPr sz="1200" b="1">
                <a:solidFill>
                  <a:srgbClr val="FFFFFF"/>
                </a:solidFill>
                <a:latin typeface="Arial"/>
              </a:defRPr>
            </a:pPr>
            <a:r>
              <a:t>حجز النطاقات وإعداد الخادم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14600"/>
            <a:ext cx="229514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شراء</a:t>
            </a:r>
            <a:r>
              <a:rPr sz="1400" dirty="0"/>
              <a:t> </a:t>
            </a:r>
            <a:r>
              <a:rPr sz="1400" dirty="0" err="1"/>
              <a:t>نطاق</a:t>
            </a:r>
            <a:r>
              <a:rPr sz="1400" dirty="0"/>
              <a:t> bednayelmunicipality.com </a:t>
            </a:r>
            <a:r>
              <a:rPr sz="1400" dirty="0" err="1"/>
              <a:t>فوراً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تقديم</a:t>
            </a:r>
            <a:r>
              <a:rPr sz="1400" dirty="0"/>
              <a:t> </a:t>
            </a:r>
            <a:r>
              <a:rPr sz="1400" dirty="0" err="1"/>
              <a:t>كتاب</a:t>
            </a:r>
            <a:r>
              <a:rPr sz="1400" dirty="0"/>
              <a:t> </a:t>
            </a:r>
            <a:r>
              <a:rPr sz="1400" dirty="0" err="1"/>
              <a:t>طلب</a:t>
            </a:r>
            <a:r>
              <a:rPr sz="1400" dirty="0"/>
              <a:t> </a:t>
            </a:r>
            <a:r>
              <a:rPr sz="1400" dirty="0" err="1"/>
              <a:t>نطاق</a:t>
            </a:r>
            <a:r>
              <a:rPr sz="1400" dirty="0"/>
              <a:t> bednayel.gov.lb </a:t>
            </a:r>
            <a:r>
              <a:rPr sz="1400" dirty="0" err="1"/>
              <a:t>لدى</a:t>
            </a:r>
            <a:r>
              <a:rPr sz="1400" dirty="0"/>
              <a:t> OMSAR.</a:t>
            </a:r>
            <a:br>
              <a:rPr sz="1400" dirty="0"/>
            </a:br>
            <a:endParaRPr sz="1400" dirty="0"/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حجز</a:t>
            </a:r>
            <a:r>
              <a:rPr sz="1400" dirty="0"/>
              <a:t> </a:t>
            </a:r>
            <a:r>
              <a:rPr sz="1400" dirty="0" err="1"/>
              <a:t>الخادم</a:t>
            </a:r>
            <a:r>
              <a:rPr sz="1400" dirty="0"/>
              <a:t> </a:t>
            </a:r>
            <a:r>
              <a:rPr sz="1400" dirty="0" err="1"/>
              <a:t>السحابي</a:t>
            </a:r>
            <a:r>
              <a:rPr sz="1400" dirty="0"/>
              <a:t> VPS </a:t>
            </a:r>
            <a:r>
              <a:rPr sz="1400" dirty="0" err="1"/>
              <a:t>وتثبيت</a:t>
            </a:r>
            <a:r>
              <a:rPr sz="1400" dirty="0"/>
              <a:t> </a:t>
            </a:r>
            <a:r>
              <a:rPr sz="1400" dirty="0" err="1"/>
              <a:t>البيئة</a:t>
            </a:r>
            <a:r>
              <a:rPr sz="1400" dirty="0"/>
              <a:t> </a:t>
            </a:r>
            <a:r>
              <a:rPr sz="1400" dirty="0" err="1"/>
              <a:t>البرمجية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</p:txBody>
      </p:sp>
      <p:sp>
        <p:nvSpPr>
          <p:cNvPr id="11" name="Rounded Rectangle 10"/>
          <p:cNvSpPr/>
          <p:nvPr/>
        </p:nvSpPr>
        <p:spPr>
          <a:xfrm>
            <a:off x="3465576" y="1645920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65576" y="1645920"/>
            <a:ext cx="2514600" cy="77724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100" b="1">
                <a:solidFill>
                  <a:srgbClr val="D4A017"/>
                </a:solidFill>
                <a:latin typeface="Arial"/>
              </a:defRPr>
            </a:pPr>
            <a:r>
              <a:t>المرحلة الثانية</a:t>
            </a:r>
          </a:p>
          <a:p>
            <a:pPr algn="ctr" rtl="1">
              <a:defRPr sz="1200" b="1">
                <a:solidFill>
                  <a:srgbClr val="FFFFFF"/>
                </a:solidFill>
                <a:latin typeface="Arial"/>
              </a:defRPr>
            </a:pPr>
            <a:r>
              <a:t>ربط Twilio والأمان السحابي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514600"/>
            <a:ext cx="22951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فتح</a:t>
            </a:r>
            <a:r>
              <a:rPr sz="1400" dirty="0"/>
              <a:t> </a:t>
            </a:r>
            <a:r>
              <a:rPr sz="1400" dirty="0" err="1"/>
              <a:t>حساب</a:t>
            </a:r>
            <a:r>
              <a:rPr sz="1400" dirty="0"/>
              <a:t> Twilio </a:t>
            </a:r>
            <a:r>
              <a:rPr sz="1400" dirty="0" err="1"/>
              <a:t>وضبط</a:t>
            </a:r>
            <a:r>
              <a:rPr sz="1400" dirty="0"/>
              <a:t> </a:t>
            </a:r>
            <a:r>
              <a:rPr sz="1400" dirty="0" err="1"/>
              <a:t>إرسال</a:t>
            </a:r>
            <a:r>
              <a:rPr sz="1400" dirty="0"/>
              <a:t> </a:t>
            </a:r>
            <a:r>
              <a:rPr sz="1400" dirty="0" err="1"/>
              <a:t>رسائل</a:t>
            </a:r>
            <a:r>
              <a:rPr sz="1400" dirty="0"/>
              <a:t> </a:t>
            </a:r>
            <a:r>
              <a:rPr sz="1400" dirty="0" err="1"/>
              <a:t>التحقق</a:t>
            </a:r>
            <a:r>
              <a:rPr sz="1400" dirty="0"/>
              <a:t> (OTP).</a:t>
            </a:r>
            <a:br>
              <a:rPr sz="1400" dirty="0"/>
            </a:br>
            <a:endParaRPr sz="1400" dirty="0"/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رفع</a:t>
            </a:r>
            <a:r>
              <a:rPr sz="1400" dirty="0"/>
              <a:t> </a:t>
            </a:r>
            <a:r>
              <a:rPr sz="1400" dirty="0" err="1"/>
              <a:t>قاعدة</a:t>
            </a:r>
            <a:r>
              <a:rPr sz="1400" dirty="0"/>
              <a:t> </a:t>
            </a:r>
            <a:r>
              <a:rPr sz="1400" dirty="0" err="1"/>
              <a:t>البيانات</a:t>
            </a:r>
            <a:r>
              <a:rPr sz="1400" dirty="0"/>
              <a:t> </a:t>
            </a:r>
            <a:r>
              <a:rPr sz="1400" dirty="0" err="1"/>
              <a:t>والشيفرة</a:t>
            </a:r>
            <a:r>
              <a:rPr sz="1400" dirty="0"/>
              <a:t> </a:t>
            </a:r>
            <a:r>
              <a:rPr sz="1400" dirty="0" err="1"/>
              <a:t>البرمجية</a:t>
            </a:r>
            <a:r>
              <a:rPr sz="1400" dirty="0"/>
              <a:t> </a:t>
            </a:r>
            <a:r>
              <a:rPr sz="1400" dirty="0" err="1"/>
              <a:t>للمنصة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تفعيل</a:t>
            </a:r>
            <a:r>
              <a:rPr sz="1400" dirty="0"/>
              <a:t> </a:t>
            </a:r>
            <a:r>
              <a:rPr sz="1400" dirty="0" err="1"/>
              <a:t>شهادة</a:t>
            </a:r>
            <a:r>
              <a:rPr sz="1400" dirty="0"/>
              <a:t> </a:t>
            </a:r>
            <a:r>
              <a:rPr sz="1400" dirty="0" err="1"/>
              <a:t>الأمان</a:t>
            </a:r>
            <a:r>
              <a:rPr sz="1400" dirty="0"/>
              <a:t> SSL </a:t>
            </a:r>
            <a:r>
              <a:rPr sz="1400" dirty="0" err="1"/>
              <a:t>وحماية</a:t>
            </a:r>
            <a:r>
              <a:rPr sz="1400" dirty="0"/>
              <a:t> Cloudflare.</a:t>
            </a:r>
            <a:br>
              <a:rPr sz="1400" dirty="0"/>
            </a:br>
            <a:endParaRPr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6199632" y="1645920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645920"/>
            <a:ext cx="2514600" cy="7772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100" b="1">
                <a:solidFill>
                  <a:srgbClr val="D4A017"/>
                </a:solidFill>
                <a:latin typeface="Arial"/>
              </a:defRPr>
            </a:pPr>
            <a:r>
              <a:t>المرحلة الثالثة</a:t>
            </a:r>
          </a:p>
          <a:p>
            <a:pPr algn="ctr" rtl="1">
              <a:defRPr sz="1200" b="1">
                <a:solidFill>
                  <a:srgbClr val="FFFFFF"/>
                </a:solidFill>
                <a:latin typeface="Arial"/>
              </a:defRPr>
            </a:pPr>
            <a:r>
              <a:t>تدريب الكادر البلدي والتجربة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22951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تدريب</a:t>
            </a:r>
            <a:r>
              <a:rPr sz="1400" dirty="0"/>
              <a:t> </a:t>
            </a:r>
            <a:r>
              <a:rPr sz="1400" dirty="0" err="1"/>
              <a:t>موظفي</a:t>
            </a:r>
            <a:r>
              <a:rPr sz="1400" dirty="0"/>
              <a:t> </a:t>
            </a:r>
            <a:r>
              <a:rPr sz="1400" dirty="0" err="1"/>
              <a:t>البلدية</a:t>
            </a:r>
            <a:r>
              <a:rPr sz="1400" dirty="0"/>
              <a:t> </a:t>
            </a:r>
            <a:r>
              <a:rPr sz="1400" dirty="0" err="1"/>
              <a:t>على</a:t>
            </a:r>
            <a:r>
              <a:rPr sz="1400" dirty="0"/>
              <a:t> </a:t>
            </a:r>
            <a:r>
              <a:rPr sz="1400" dirty="0" err="1"/>
              <a:t>لوحة</a:t>
            </a:r>
            <a:r>
              <a:rPr sz="1400" dirty="0"/>
              <a:t> </a:t>
            </a:r>
            <a:r>
              <a:rPr sz="1400" dirty="0" err="1"/>
              <a:t>التحكم</a:t>
            </a:r>
            <a:r>
              <a:rPr sz="1400" dirty="0"/>
              <a:t> </a:t>
            </a:r>
            <a:r>
              <a:rPr sz="1400" dirty="0" err="1"/>
              <a:t>المركزية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إدخال</a:t>
            </a:r>
            <a:r>
              <a:rPr sz="1400" dirty="0"/>
              <a:t> </a:t>
            </a:r>
            <a:r>
              <a:rPr sz="1400" dirty="0" err="1"/>
              <a:t>البيانات</a:t>
            </a:r>
            <a:r>
              <a:rPr sz="1400" dirty="0"/>
              <a:t> </a:t>
            </a:r>
            <a:r>
              <a:rPr sz="1400" dirty="0" err="1"/>
              <a:t>الرسمية</a:t>
            </a:r>
            <a:r>
              <a:rPr sz="1400" dirty="0"/>
              <a:t> </a:t>
            </a:r>
            <a:r>
              <a:rPr sz="1400" dirty="0" err="1"/>
              <a:t>المحدثة</a:t>
            </a:r>
            <a:r>
              <a:rPr sz="1400" dirty="0"/>
              <a:t> </a:t>
            </a:r>
            <a:r>
              <a:rPr sz="1400" dirty="0" err="1"/>
              <a:t>والدليل</a:t>
            </a:r>
            <a:r>
              <a:rPr sz="1400" dirty="0"/>
              <a:t> </a:t>
            </a:r>
            <a:r>
              <a:rPr sz="1400" dirty="0" err="1"/>
              <a:t>المحلي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اختبار</a:t>
            </a:r>
            <a:r>
              <a:rPr sz="1400" dirty="0"/>
              <a:t> </a:t>
            </a:r>
            <a:r>
              <a:rPr sz="1400" dirty="0" err="1"/>
              <a:t>تجريبي</a:t>
            </a:r>
            <a:r>
              <a:rPr sz="1400" dirty="0"/>
              <a:t> </a:t>
            </a:r>
            <a:r>
              <a:rPr sz="1400" dirty="0" err="1"/>
              <a:t>شامل</a:t>
            </a:r>
            <a:r>
              <a:rPr sz="1400" dirty="0"/>
              <a:t> </a:t>
            </a:r>
            <a:r>
              <a:rPr sz="1400" dirty="0" err="1"/>
              <a:t>لإرسال</a:t>
            </a:r>
            <a:r>
              <a:rPr sz="1400" dirty="0"/>
              <a:t> </a:t>
            </a:r>
            <a:r>
              <a:rPr sz="1400" dirty="0" err="1"/>
              <a:t>الشكاوى</a:t>
            </a:r>
            <a:r>
              <a:rPr sz="1400" dirty="0"/>
              <a:t> </a:t>
            </a:r>
            <a:r>
              <a:rPr sz="1400" dirty="0" err="1"/>
              <a:t>والمواعيد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8933688" y="1645920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33688" y="1645920"/>
            <a:ext cx="2514600" cy="77724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100" b="1">
                <a:solidFill>
                  <a:srgbClr val="D4A017"/>
                </a:solidFill>
                <a:latin typeface="Arial"/>
              </a:defRPr>
            </a:pPr>
            <a:r>
              <a:t>المرحلة الرابعة</a:t>
            </a:r>
          </a:p>
          <a:p>
            <a:pPr algn="ctr" rtl="1">
              <a:defRPr sz="1200" b="1">
                <a:solidFill>
                  <a:srgbClr val="FFFFFF"/>
                </a:solidFill>
                <a:latin typeface="Arial"/>
              </a:defRPr>
            </a:pPr>
            <a:r>
              <a:t>الإطلاق الرسمي والتوعية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2514600"/>
            <a:ext cx="22951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الإعلان</a:t>
            </a:r>
            <a:r>
              <a:rPr sz="1400" dirty="0"/>
              <a:t> </a:t>
            </a:r>
            <a:r>
              <a:rPr sz="1400" dirty="0" err="1"/>
              <a:t>الرسمي</a:t>
            </a:r>
            <a:r>
              <a:rPr sz="1400" dirty="0"/>
              <a:t> </a:t>
            </a:r>
            <a:r>
              <a:rPr sz="1400" dirty="0" err="1"/>
              <a:t>لأهالي</a:t>
            </a:r>
            <a:r>
              <a:rPr sz="1400" dirty="0"/>
              <a:t> </a:t>
            </a:r>
            <a:r>
              <a:rPr sz="1400" dirty="0" err="1"/>
              <a:t>بدنايل</a:t>
            </a:r>
            <a:r>
              <a:rPr sz="1400" dirty="0"/>
              <a:t> </a:t>
            </a:r>
            <a:r>
              <a:rPr sz="1400" dirty="0" err="1"/>
              <a:t>والمغتربين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نشر</a:t>
            </a:r>
            <a:r>
              <a:rPr sz="1400" dirty="0"/>
              <a:t> </a:t>
            </a:r>
            <a:r>
              <a:rPr sz="1400" dirty="0" err="1"/>
              <a:t>أدلة</a:t>
            </a:r>
            <a:r>
              <a:rPr sz="1400" dirty="0"/>
              <a:t> </a:t>
            </a:r>
            <a:r>
              <a:rPr sz="1400" dirty="0" err="1"/>
              <a:t>وفيديوهات</a:t>
            </a:r>
            <a:r>
              <a:rPr sz="1400" dirty="0"/>
              <a:t> </a:t>
            </a:r>
            <a:r>
              <a:rPr sz="1400" dirty="0" err="1"/>
              <a:t>توضيحية</a:t>
            </a:r>
            <a:r>
              <a:rPr sz="1400" dirty="0"/>
              <a:t> </a:t>
            </a:r>
            <a:r>
              <a:rPr sz="1400" dirty="0" err="1"/>
              <a:t>عبر</a:t>
            </a:r>
            <a:r>
              <a:rPr sz="1400" dirty="0"/>
              <a:t> </a:t>
            </a:r>
            <a:r>
              <a:rPr sz="1400" dirty="0" err="1"/>
              <a:t>وسائل</a:t>
            </a:r>
            <a:r>
              <a:rPr sz="1400" dirty="0"/>
              <a:t> </a:t>
            </a:r>
            <a:r>
              <a:rPr sz="1400" dirty="0" err="1"/>
              <a:t>التواصل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algn="r" rtl="1">
              <a:defRPr sz="1050" b="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بدء</a:t>
            </a:r>
            <a:r>
              <a:rPr sz="1400" dirty="0"/>
              <a:t> </a:t>
            </a:r>
            <a:r>
              <a:rPr sz="1400" dirty="0" err="1"/>
              <a:t>استقبال</a:t>
            </a:r>
            <a:r>
              <a:rPr sz="1400" dirty="0"/>
              <a:t> </a:t>
            </a:r>
            <a:r>
              <a:rPr sz="1400" dirty="0" err="1"/>
              <a:t>واستلام</a:t>
            </a:r>
            <a:r>
              <a:rPr sz="1400" dirty="0"/>
              <a:t> </a:t>
            </a:r>
            <a:r>
              <a:rPr sz="1400" dirty="0" err="1"/>
              <a:t>معاملات</a:t>
            </a:r>
            <a:r>
              <a:rPr sz="1400" dirty="0"/>
              <a:t> </a:t>
            </a:r>
            <a:r>
              <a:rPr sz="1400" dirty="0" err="1"/>
              <a:t>المواطنين</a:t>
            </a:r>
            <a:r>
              <a:rPr sz="1400" dirty="0"/>
              <a:t> </a:t>
            </a:r>
            <a:r>
              <a:rPr sz="1400" dirty="0" err="1"/>
              <a:t>رقمياً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</p:txBody>
      </p:sp>
      <p:sp>
        <p:nvSpPr>
          <p:cNvPr id="20" name="Rounded Rectangle 19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1400" b="1">
                <a:solidFill>
                  <a:srgbClr val="D4A017"/>
                </a:solidFill>
                <a:latin typeface="Arial"/>
              </a:defRPr>
            </a:pPr>
            <a:r>
              <a:t>بلدية بدنايل نحو مستقبل رقمي واعد يخدم المجتمع ويرتقي بالبلدة</a:t>
            </a:r>
          </a:p>
          <a:p>
            <a:pPr algn="ctr" rtl="1">
              <a:defRPr sz="1200" b="0">
                <a:solidFill>
                  <a:srgbClr val="FFFFFF"/>
                </a:solidFill>
                <a:latin typeface="Arial"/>
              </a:defRPr>
            </a:pPr>
            <a:r>
              <a:t>شكراً لحسن استماعكم واهتمامكم — مستعدون للرد على كافة الاستفسارات والملاحظات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2486</Words>
  <Application>Microsoft Office PowerPoint</Application>
  <PresentationFormat>Widescreen</PresentationFormat>
  <Paragraphs>215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haj sleiman</cp:lastModifiedBy>
  <cp:revision>2</cp:revision>
  <dcterms:created xsi:type="dcterms:W3CDTF">2013-01-27T09:14:16Z</dcterms:created>
  <dcterms:modified xsi:type="dcterms:W3CDTF">2026-10-15T17:48:34Z</dcterms:modified>
  <cp:category/>
</cp:coreProperties>
</file>