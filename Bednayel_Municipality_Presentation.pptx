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97135" cy="4846320"/>
          </a:xfrm>
          <a:prstGeom prst="roundRect">
            <a:avLst/>
          </a:prstGeom>
          <a:solidFill>
            <a:srgbClr val="163554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Arial"/>
              </a:defRPr>
            </a:pPr>
            <a:r>
              <a:t>الجمهورية اللبنانية — محافظة بعلبك الهرمل</a:t>
            </a:r>
          </a:p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بوابة بلدية بدنايل الرقمية المتكاملة</a:t>
            </a:r>
          </a:p>
          <a:p>
            <a:pPr algn="ctr">
              <a:defRPr sz="1800">
                <a:solidFill>
                  <a:srgbClr val="CBD5E1"/>
                </a:solidFill>
                <a:latin typeface="Arial"/>
              </a:defRPr>
            </a:pPr>
            <a:r>
              <a:t>دراسة شاملة للمنصة، الأثر التنموي على البلدة، وتكاليف الاستضافة والنطاقات الرسمية بالتفصيل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114800"/>
            <a:ext cx="2194560" cy="594360"/>
          </a:xfrm>
          <a:prstGeom prst="roundRect">
            <a:avLst/>
          </a:prstGeom>
          <a:solidFill>
            <a:srgbClr val="1E4469"/>
          </a:solidFill>
          <a:ln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🏛️ خدمات إلكترونية ومواعيد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114800"/>
            <a:ext cx="2194560" cy="594360"/>
          </a:xfrm>
          <a:prstGeom prst="roundRect">
            <a:avLst/>
          </a:prstGeom>
          <a:solidFill>
            <a:srgbClr val="1E4469"/>
          </a:solidFill>
          <a:ln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📋 إدارة الشكاوى والمتابعة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2194560" cy="594360"/>
          </a:xfrm>
          <a:prstGeom prst="roundRect">
            <a:avLst/>
          </a:prstGeom>
          <a:solidFill>
            <a:srgbClr val="1E4469"/>
          </a:solidFill>
          <a:ln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🌐 نطاق حكومي .gov.lb ونطاق 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4114800"/>
            <a:ext cx="2194560" cy="594360"/>
          </a:xfrm>
          <a:prstGeom prst="roundRect">
            <a:avLst/>
          </a:prstGeom>
          <a:solidFill>
            <a:srgbClr val="1E4469"/>
          </a:solidFill>
          <a:ln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⚡ استضافة سحابية عالية الأمان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Arial"/>
              </a:defRPr>
            </a:pPr>
            <a:r>
              <a:t>عرض رسمي موجّه للمجلس البلدي وأهالي بلدة بدنايل الكرام | تشرين الأول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بلدية بدنايل | التحول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F2942"/>
                </a:solidFill>
                <a:latin typeface="Arial"/>
              </a:defRPr>
            </a:pPr>
            <a:r>
              <a:t>الرؤية والأهداف الاستراتيجية للمشروع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2 من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514600" cy="109728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🚀  التحول نحو الإدارة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الانتقال ببلدية بدنايل من الإدارة الورقية التقليدية إلى منظومة رقمية متكاملة تعمل على مدار الساعة لخدمة المواطن بأعلى معايير السرعة والدقة.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6916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65576" y="1691640"/>
            <a:ext cx="2514600" cy="109728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🤝  تعزيز الشفافية والثقة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92608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بناء جسر ثقة متين بين المجلس البلدي والأهالي عبر إتاحة متابعة الشكاوى مباشرة، نشر البيانات والقرارات والأخبار الرسمية دون وساطة.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6916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691640"/>
            <a:ext cx="2514600" cy="109728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🌍  ربط المغتربين بالبلدة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92608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تمكين أبناء بدنايل في بلاد الاغتراب من متابعة أحوال بلدتهم، والمساهمة في مبادراتها، وطلب الإفادات والمستندات بسهولة تامة أينما كانوا.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6916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33688" y="1691640"/>
            <a:ext cx="2514600" cy="109728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⏱️  توفير الوقت والموارد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92608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تخفيف الضغط على موظفي البلدية، منع الازدحام اليومي، وتقليص الهدر في الأوراق والأحبار وتكاليف التنقل على كاهل المواطنين.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بلدية بدنايل | التحول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F2942"/>
                </a:solidFill>
                <a:latin typeface="Arial"/>
              </a:defRPr>
            </a:pPr>
            <a:r>
              <a:t>أقسام المنصة الرقمية ومميزاتها الفنية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3 من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429000" cy="41148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بوابة المواطن والحسابات الآمنة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تسجيل دخول وإنشاء حساب برقم الهاتف مع رمز تحقق أمان (OTP).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نظام استعادة وتعيين كلمة المرور المشفر بحماية متقدمة.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لوحة تحكم خاصة بالمواطن لمتابعة حالة معاملاته وسجل نشاطه.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9164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9976" y="1691640"/>
            <a:ext cx="3429000" cy="41148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المعاملات والخدمات الإلكترونية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14884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حجز المواعيد الرسمية مسبقاً (استفسارات، رخص، مراجعات).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طلب المعاملات والوثائق البلدية (شهادات سكن، إفادات عقارية وإدارية).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إمكانية إرفاق المستندات والصور رقمياً لتقليل المراجعات الميدانية.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2" y="1691640"/>
            <a:ext cx="3429000" cy="41148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نظام الشكاوى والاقتراحات التفاعلي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14884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رفع شكوى فورية مع تحديد الموقع ونوع المشكلة (إنارة، نفايات، طرقات).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إرفاق صور حية من موقع المشكلة لتوجيه فرق الصيانة مباشرة.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تتبع مسار الشكوى حتى إتمام المعالجة وإشعار المواطن بالإنجاز.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3429000" cy="41148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4. المركز الإعلامي والدليل البلدي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شريط أخبار وقرارات البلدية الحصرية مع صور ومحتوى تفاعلي.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دليل الأماكن والخدمات في بدنايل (مطاعم، صيدليات، مراكز صحية، مدارس).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معرض صور توثيقي لمعالم القرية وتطور المشاريع الإنمائية.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3931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9976" y="3931920"/>
            <a:ext cx="3429000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5. لوحة الإدارة الشاملة (Admin Portal)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438912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واجهة خاصة لموظفي المجلس البلدي لإدارة الطلبات والمواعيد.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نظام فلترة وتحكم كامل بالشكاوى وتعيين فرق العمل المسؤولة.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إدارة المحتوى الإخباري، وتحديث الدليل المحلي والمعارض بكبسة زر.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2" y="3931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28432" y="3931920"/>
            <a:ext cx="3429000" cy="41148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6. البنية التقنية والتجاوب (Technology Stack)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438912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واجهة سريعة وخفيفة مبنية بأحدث تقنيات React وTailwind CSS.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دعم كامل للغتين العربية والإنجليزية لتسهيل التصفح.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متوافق 100% مع الهواتف الذكية والأجهزة اللوحية والحواسيب.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بلدية بدنايل | التحول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F2942"/>
                </a:solidFill>
                <a:latin typeface="Arial"/>
              </a:defRPr>
            </a:pPr>
            <a:r>
              <a:t>الأثر الإيجابي والتنموي على قرية بدنايل وأهلها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4 من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429000" cy="82296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🏡  الأهالي والمقيمون في بدنايل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51760"/>
            <a:ext cx="30998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إنهاء عناء الانتظار والطوابير أمام مكاتب البلدية وتوفير وقت ثمين للمواطنين.</a:t>
            </a:r>
            <a:br/>
            <a:endParaRPr/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تقديم الشكاوى فور حدوثها ومتابعة معالجتها بشفافية تامة دون الحاجة للمراجعة الشخصية.</a:t>
            </a:r>
            <a:br/>
            <a:endParaRPr/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معرفة متطلبات الأوراق الرسمية مسبقاً قبل التوجه للبلدية لتجنب تكرار الزيارات.</a:t>
            </a:r>
            <a:br/>
            <a:endParaRPr/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خدمة متاحة على مدار 24 ساعة ومن المنزل عبر الهاتف المحمول بكل سهولة.</a:t>
            </a:r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9976" y="16916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9976" y="1691640"/>
            <a:ext cx="3429000" cy="8229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✈️  أبناء بدنايل في بلاد الاغتراب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651760"/>
            <a:ext cx="30998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بناء صلة وصل رقمية دائمة تربط المغترب بأخبار بلدته ومشروعاتها الإنمائية لحظة بلحظة.</a:t>
            </a:r>
            <a:br/>
            <a:endParaRPr/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إمكانية متابعة المعاملات والممتلكات والتواصل المباشر مع المجلس البلدي من الخارج.</a:t>
            </a:r>
            <a:br/>
            <a:endParaRPr/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المساهمة في دعم المشاريع التنموية والخيرية التي تعلن عنها البلدية عبر المنصة.</a:t>
            </a:r>
            <a:br/>
            <a:endParaRPr/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تعزيز انتماء الأجيال الجديدة من المغتربين بتراث بلدتهم ومواقعها عبر الدليل والمعرض.</a:t>
            </a:r>
            <a:br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2" y="1691640"/>
            <a:ext cx="3429000" cy="822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🏛️  المجلس البلدي والإدارة المحلية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651760"/>
            <a:ext cx="30998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أرشفة رقمية منظمة لجميع الطلبات والمواعيد والشكاوى وتفادي ضياع السجلات الورقية.</a:t>
            </a:r>
            <a:br/>
            <a:endParaRPr/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سرعة توجيه ورش الصيانة والطوارئ وحصر المشاكل الأكثر تكراراً في أحياء البلدة.</a:t>
            </a:r>
            <a:br/>
            <a:endParaRPr/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توفير هائل في النفقات الإدارية والمطبوعات والأوراق والجهد البشري.</a:t>
            </a:r>
            <a:br/>
            <a:endParaRPr/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✔ ترسيخ صورة حضارية وعصرية تليق ببلدة بدنايل كنموذج ريادي في المنطقة.</a:t>
            </a:r>
            <a:br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بلدية بدنايل | التحول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F2942"/>
                </a:solidFill>
                <a:latin typeface="Arial"/>
              </a:defRPr>
            </a:pPr>
            <a:r>
              <a:t>دراسة تكاليف الاستضافة السحابية والتشغيل بالتفصيل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5 من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100">
                <a:solidFill>
                  <a:srgbClr val="0F2942"/>
                </a:solidFill>
                <a:latin typeface="Arial"/>
              </a:defRPr>
            </a:pPr>
            <a:r>
              <a:t>💡 متطلبات تشغيل النظام: واجهة تفاعلية (React Vite) + خادم خلفي برمجيات (Node.js/Express) + قاعدة بيانات علائقية (MySQL) + مساحة تخزين للصور والمرفقات (Media Storage). النظام مصمم بكفاءة عالية ليعمل بأقل تكلفة ممكنة.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212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5212080" cy="7772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الخيار الأول (الموصى به): خادم سحابي خاص (Cloud VPS)</a:t>
            </a:r>
          </a:p>
          <a:p>
            <a:pPr algn="r">
              <a:defRPr sz="950">
                <a:solidFill>
                  <a:srgbClr val="D4A017"/>
                </a:solidFill>
                <a:latin typeface="Arial"/>
              </a:defRPr>
            </a:pPr>
            <a:r>
              <a:t>خادم افتراضي مستقل فائق السرعة والموثوقية (Hetzner / Hostinger VPS)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المعالج والذاكرة: 2 vCPU Cores مع 4 GB RAM (كافية لآلاف الزوار يومياً)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التخزين والسرعة: 50 GB إلى 80 GB NVMe SSD فائق السرعة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حركة البيانات (Traffic): غير محدودة / 20 TB شهرياً بسعة شبكة 1 Gbps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قاعدة البيانات: MySQL مدمجة مع نظام عزل أمني وجدار ناري متطور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النسخ الاحتياطي: نسخ احتياطي أسبوعي تلقائي لضمان عدم ضياع أي بيانات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49240"/>
            <a:ext cx="4846320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6F50"/>
                </a:solidFill>
                <a:latin typeface="Arial"/>
              </a:defRPr>
            </a:pPr>
            <a:r>
              <a:t>التكلفة الشهرية: $7.00 - $10.00 شهرياً  |  الإجمالي السنوي: $84 - $120 سنوياً فقط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560320"/>
            <a:ext cx="5212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2560320"/>
            <a:ext cx="5212080" cy="777240"/>
          </a:xfrm>
          <a:prstGeom prst="rect">
            <a:avLst/>
          </a:prstGeom>
          <a:solidFill>
            <a:srgbClr val="28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الخيار الثاني: الاستضافة المدارة / الموزعة (Decoupled Cloud)</a:t>
            </a:r>
          </a:p>
          <a:p>
            <a:pPr algn="r">
              <a:defRPr sz="950">
                <a:solidFill>
                  <a:srgbClr val="D4A017"/>
                </a:solidFill>
                <a:latin typeface="Arial"/>
              </a:defRPr>
            </a:pPr>
            <a:r>
              <a:t>فصل الواجهة عن السيرفر (Cloudflare Pages + Railway/Render)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4290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الواجهة الأمامية (Frontend): Cloudflare Pages أو Vercel (مجاني 100%)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الخادم الخلفي (Backend API): Node.js Container على Railway أو Render ($5 - $7 / شهر)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قاعدة البيانات (Managed DB): MySQL Database مساحة 5-10 GB ($5 / شهر)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تخزين الصور المرفقة: Cloudflare R2 Object Storage (مجاني لغاية 10GB)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• الصيانة والتحديثات: إدارة تلقائية للسيرفر بدون تدخل يدوي في النظام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8232" y="5349240"/>
            <a:ext cx="4846320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2942"/>
                </a:solidFill>
                <a:latin typeface="Arial"/>
              </a:defRPr>
            </a:pPr>
            <a:r>
              <a:t>التكلفة الشهرية: $10.00 - $14.00 شهرياً  |  الإجمالي السنوي: $120 - $168 سنوياً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بلدية بدنايل | التحول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F2942"/>
                </a:solidFill>
                <a:latin typeface="Arial"/>
              </a:defRPr>
            </a:pPr>
            <a:r>
              <a:t>النطاق الحكومي الرسمي (.gov.lb) — الآلية، المتطلبات، والتكلفة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6 من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6858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6858000" cy="54864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🏛️ آلية وخطوات حجز النطاق السيادي (bednayel.gov.lb)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6492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🔹 الجهة المشرفة الرسمية: مكتب وزير الدولة لشؤون التنمية الإدارية (OMSAR) بالتنسيق مع هيئة إدارة النطاق اللبناني (LBDR / OGERO).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🔹 1. إعداد الكتاب والقرار البلدي: تجهيز كتاب رسمي موقّع ومختوم من رئيس مجلس بلدية بدنايل، وموجّه إلى OMSAR يطلب حجز وتخصيص النطاق بدقة باسم bednayel.gov.lb.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🔹 2. إرفاق المستندات الثبوتية: إرفاق مرسوم تأسيس البلدية أو إفادة رسمية صادرة عن وزارة الداخلية والبلديات تُثبت الصفة القانونية للمجلس البلدي ورئيسه.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🔹 3. تعيين جهات الاتصال (Contacts): تحديد ممثل إداري (رئيس البلدية أو عضو مجلس) وممثل تقني مسؤول عن الخوادم وعناوين الـ DNS.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🔹 4. ربط خوادم الأسماء (DNS Delegation): تزويد الهيئة بعناوين الـ Nameservers الخاصة بخادم الاستضافة لربط الموقع تلقائياً.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🔹 5. التدقيق والموافقة والتفعيل: تتم مراجعة الطلب خلال فترة تتراوح بين 5 إلى 15 يوم عمل ويتم تفعيل النطاق وإدراجه في سجلات الدولة الرسمية.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91640"/>
            <a:ext cx="3566160" cy="2011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6F50"/>
                </a:solidFill>
                <a:latin typeface="Arial"/>
              </a:defRPr>
            </a:pPr>
            <a:r>
              <a:t>💰 التكلفة المالية لنطاق .gov.lb</a:t>
            </a:r>
          </a:p>
          <a:p>
            <a:br/>
            <a:r>
              <a:t>مجاني 100% (أو برسم إداري رمزي جداً)</a:t>
            </a:r>
          </a:p>
          <a:p>
            <a:pPr algn="ctr">
              <a:defRPr sz="1000">
                <a:solidFill>
                  <a:srgbClr val="1E293B"/>
                </a:solidFill>
                <a:latin typeface="Arial"/>
              </a:defRPr>
            </a:pPr>
            <a:r>
              <a:t>تقدم الدولة اللبنانية نطاقات .gov.lb مجاناً للإدارات العامة والبلديات لدعم التحول الرقمي ومشاريع الحوكمة الإلكترونية.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840480"/>
            <a:ext cx="3566160" cy="233172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rPr dirty="0"/>
              <a:t>⭐ </a:t>
            </a:r>
            <a:r>
              <a:rPr dirty="0" err="1"/>
              <a:t>القيمة</a:t>
            </a:r>
            <a:r>
              <a:rPr dirty="0"/>
              <a:t> </a:t>
            </a:r>
            <a:r>
              <a:rPr dirty="0" err="1"/>
              <a:t>الاستراتيجية</a:t>
            </a:r>
            <a:r>
              <a:rPr dirty="0"/>
              <a:t> </a:t>
            </a:r>
            <a:r>
              <a:rPr dirty="0" err="1"/>
              <a:t>والسيادية</a:t>
            </a:r>
            <a:endParaRPr dirty="0"/>
          </a:p>
          <a:p>
            <a:br>
              <a:rPr dirty="0"/>
            </a:br>
            <a:r>
              <a:rPr dirty="0">
                <a:highlight>
                  <a:srgbClr val="000000"/>
                </a:highlight>
              </a:rPr>
              <a:t>• </a:t>
            </a:r>
            <a:r>
              <a:rPr dirty="0" err="1">
                <a:highlight>
                  <a:srgbClr val="000000"/>
                </a:highlight>
              </a:rPr>
              <a:t>الحصانة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ضد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التزوير</a:t>
            </a:r>
            <a:r>
              <a:rPr dirty="0">
                <a:highlight>
                  <a:srgbClr val="000000"/>
                </a:highlight>
              </a:rPr>
              <a:t>:</a:t>
            </a:r>
            <a:endParaRPr lang="en-US" dirty="0">
              <a:highlight>
                <a:srgbClr val="000000"/>
              </a:highlight>
            </a:endParaRPr>
          </a:p>
          <a:p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لا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يمكن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لأي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جهة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غير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البلدية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حجز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هذا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النطاق</a:t>
            </a:r>
            <a:r>
              <a:rPr dirty="0">
                <a:highlight>
                  <a:srgbClr val="000000"/>
                </a:highlight>
              </a:rPr>
              <a:t>.</a:t>
            </a:r>
            <a:br>
              <a:rPr dirty="0">
                <a:highlight>
                  <a:srgbClr val="000000"/>
                </a:highlight>
              </a:rPr>
            </a:br>
            <a:r>
              <a:rPr dirty="0">
                <a:highlight>
                  <a:srgbClr val="000000"/>
                </a:highlight>
              </a:rPr>
              <a:t>• </a:t>
            </a:r>
            <a:r>
              <a:rPr dirty="0" err="1">
                <a:highlight>
                  <a:srgbClr val="000000"/>
                </a:highlight>
              </a:rPr>
              <a:t>ثقة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مطلقة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للمواطن</a:t>
            </a:r>
            <a:r>
              <a:rPr dirty="0">
                <a:highlight>
                  <a:srgbClr val="000000"/>
                </a:highlight>
              </a:rPr>
              <a:t>: </a:t>
            </a:r>
            <a:r>
              <a:rPr dirty="0" err="1">
                <a:highlight>
                  <a:srgbClr val="000000"/>
                </a:highlight>
              </a:rPr>
              <a:t>يعلم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الزائر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أنه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داخل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الموقع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الرسمي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الحصري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للدولة</a:t>
            </a:r>
            <a:r>
              <a:rPr dirty="0">
                <a:highlight>
                  <a:srgbClr val="000000"/>
                </a:highlight>
              </a:rPr>
              <a:t>.</a:t>
            </a:r>
            <a:br>
              <a:rPr dirty="0">
                <a:highlight>
                  <a:srgbClr val="000000"/>
                </a:highlight>
              </a:rPr>
            </a:br>
            <a:r>
              <a:rPr dirty="0">
                <a:highlight>
                  <a:srgbClr val="000000"/>
                </a:highlight>
              </a:rPr>
              <a:t>• </a:t>
            </a:r>
            <a:r>
              <a:rPr dirty="0" err="1">
                <a:highlight>
                  <a:srgbClr val="000000"/>
                </a:highlight>
              </a:rPr>
              <a:t>الحماية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القانونية</a:t>
            </a:r>
            <a:r>
              <a:rPr dirty="0">
                <a:highlight>
                  <a:srgbClr val="000000"/>
                </a:highlight>
              </a:rPr>
              <a:t>: </a:t>
            </a:r>
            <a:r>
              <a:rPr dirty="0" err="1">
                <a:highlight>
                  <a:srgbClr val="000000"/>
                </a:highlight>
              </a:rPr>
              <a:t>محمي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بالقوانين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والمراسيم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اللبنانية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المنظمة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للنطاقات</a:t>
            </a:r>
            <a:r>
              <a:rPr dirty="0">
                <a:highlight>
                  <a:srgbClr val="000000"/>
                </a:highlight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بلدية بدنايل | التحول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F2942"/>
                </a:solidFill>
                <a:latin typeface="Arial"/>
              </a:defRPr>
            </a:pPr>
            <a:r>
              <a:t>النطاق التجاري الدولي (.com) — الآلية، الميزات، والتكلفة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7 من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6858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6858000" cy="5486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🌐 آلية وخطوات حجز نطاق (bednayelmunicipality.com)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6492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🔸 الخيارات المقترحة للاسم: bednayelmunicipality.com أو bednayel-municipality.com أو baladiyetbednayel.com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🔸 1. اختيار مسجل النطاقات العالمي: المسجلون الموصى بهم: Namecheap أو Cloudflare Registrar أو GoDaddy (مسجلون عالميون معتمدون لدى ICANN).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🔸 2. الفحص الفوري للتوفر: البحث الإلكتروني المباشر عن الاسم والتأكد من إتاحته للحجز غير المحجوز.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🔸 3. الدفع والتسجيل الإلكتروني: تسجيل الحساب باسم بلدية بدنايل، وتعبئة بيانات الاتصال، وإتمام عملية الشراء فوراً بواسطة بطاقة مصرفية (Visa/Mastercard).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🔸 4. حماية الخصوصية (WHOIS Privacy): تفعيل خدمة إخفاء البيانات الشخصية للمسجل مجاناً لمنع استقبال رسائل الترويج المزعجة.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🔸 5. التفعيل الفوري والربط: يتم تفعيل النطاق خلال دقائق معدودة، وربط سجلات A وCNAME بخادم الاستضافة دون أي معاملات ورقية.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91640"/>
            <a:ext cx="356616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942"/>
                </a:solidFill>
                <a:latin typeface="Arial"/>
              </a:defRPr>
            </a:pPr>
            <a:r>
              <a:rPr dirty="0"/>
              <a:t>💳 </a:t>
            </a:r>
            <a:r>
              <a:rPr dirty="0" err="1"/>
              <a:t>تكلفة</a:t>
            </a:r>
            <a:r>
              <a:rPr dirty="0"/>
              <a:t> </a:t>
            </a:r>
            <a:r>
              <a:rPr dirty="0" err="1"/>
              <a:t>حجز</a:t>
            </a:r>
            <a:r>
              <a:rPr dirty="0"/>
              <a:t> </a:t>
            </a:r>
            <a:r>
              <a:rPr dirty="0" err="1"/>
              <a:t>وتجديد</a:t>
            </a:r>
            <a:r>
              <a:rPr dirty="0"/>
              <a:t> </a:t>
            </a:r>
            <a:r>
              <a:rPr dirty="0" err="1"/>
              <a:t>نطاق</a:t>
            </a:r>
            <a:r>
              <a:rPr dirty="0"/>
              <a:t> .com</a:t>
            </a:r>
          </a:p>
          <a:p>
            <a:br>
              <a:rPr dirty="0">
                <a:highlight>
                  <a:srgbClr val="000000"/>
                </a:highlight>
              </a:rPr>
            </a:br>
            <a:r>
              <a:rPr dirty="0">
                <a:highlight>
                  <a:srgbClr val="000000"/>
                </a:highlight>
              </a:rPr>
              <a:t>$10.00 </a:t>
            </a:r>
            <a:r>
              <a:rPr dirty="0" err="1">
                <a:highlight>
                  <a:srgbClr val="000000"/>
                </a:highlight>
              </a:rPr>
              <a:t>إلى</a:t>
            </a:r>
            <a:r>
              <a:rPr dirty="0">
                <a:highlight>
                  <a:srgbClr val="000000"/>
                </a:highlight>
              </a:rPr>
              <a:t> $14.00 </a:t>
            </a:r>
            <a:r>
              <a:rPr dirty="0" err="1">
                <a:highlight>
                  <a:srgbClr val="000000"/>
                </a:highlight>
              </a:rPr>
              <a:t>سنوياً</a:t>
            </a:r>
            <a:endParaRPr dirty="0">
              <a:highlight>
                <a:srgbClr val="000000"/>
              </a:highlight>
            </a:endParaRP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rPr dirty="0"/>
              <a:t>(</a:t>
            </a:r>
            <a:r>
              <a:rPr dirty="0" err="1"/>
              <a:t>حوالي</a:t>
            </a:r>
            <a:r>
              <a:rPr dirty="0"/>
              <a:t> 900,000 </a:t>
            </a:r>
            <a:r>
              <a:rPr dirty="0" err="1"/>
              <a:t>إلى</a:t>
            </a:r>
            <a:r>
              <a:rPr dirty="0"/>
              <a:t> 1,250,000 </a:t>
            </a:r>
            <a:r>
              <a:rPr dirty="0" err="1"/>
              <a:t>ليرة</a:t>
            </a:r>
            <a:r>
              <a:rPr dirty="0"/>
              <a:t> </a:t>
            </a:r>
            <a:r>
              <a:rPr dirty="0" err="1"/>
              <a:t>لبنانية</a:t>
            </a:r>
            <a:r>
              <a:rPr dirty="0"/>
              <a:t> </a:t>
            </a:r>
            <a:r>
              <a:rPr dirty="0" err="1"/>
              <a:t>سنوياً</a:t>
            </a:r>
            <a:r>
              <a:rPr dirty="0"/>
              <a:t> </a:t>
            </a:r>
            <a:r>
              <a:rPr dirty="0" err="1"/>
              <a:t>فقط</a:t>
            </a:r>
            <a:r>
              <a:rPr dirty="0"/>
              <a:t>) </a:t>
            </a:r>
            <a:r>
              <a:rPr dirty="0" err="1"/>
              <a:t>شامل</a:t>
            </a:r>
            <a:r>
              <a:rPr dirty="0"/>
              <a:t> </a:t>
            </a:r>
            <a:r>
              <a:rPr dirty="0" err="1"/>
              <a:t>حماية</a:t>
            </a:r>
            <a:r>
              <a:rPr dirty="0"/>
              <a:t> </a:t>
            </a:r>
            <a:r>
              <a:rPr dirty="0" err="1"/>
              <a:t>ال</a:t>
            </a:r>
            <a:r>
              <a:rPr dirty="0"/>
              <a:t>ـ WHOIS </a:t>
            </a:r>
            <a:r>
              <a:rPr dirty="0" err="1"/>
              <a:t>مجاناً</a:t>
            </a:r>
            <a:r>
              <a:rPr dirty="0"/>
              <a:t> </a:t>
            </a:r>
            <a:r>
              <a:rPr dirty="0" err="1"/>
              <a:t>وبدون</a:t>
            </a:r>
            <a:r>
              <a:rPr dirty="0"/>
              <a:t> </a:t>
            </a:r>
            <a:r>
              <a:rPr dirty="0" err="1"/>
              <a:t>أي</a:t>
            </a:r>
            <a:r>
              <a:rPr dirty="0"/>
              <a:t> </a:t>
            </a:r>
            <a:r>
              <a:rPr dirty="0" err="1"/>
              <a:t>ضرائب</a:t>
            </a:r>
            <a:r>
              <a:rPr dirty="0"/>
              <a:t> </a:t>
            </a:r>
            <a:r>
              <a:rPr dirty="0" err="1"/>
              <a:t>إضافية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840480"/>
            <a:ext cx="3566160" cy="233172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rPr dirty="0"/>
              <a:t>⚡ </a:t>
            </a:r>
            <a:r>
              <a:rPr dirty="0" err="1"/>
              <a:t>أهم</a:t>
            </a:r>
            <a:r>
              <a:rPr dirty="0"/>
              <a:t> </a:t>
            </a:r>
            <a:r>
              <a:rPr dirty="0" err="1"/>
              <a:t>ميزات</a:t>
            </a:r>
            <a:r>
              <a:rPr dirty="0"/>
              <a:t> </a:t>
            </a:r>
            <a:r>
              <a:rPr dirty="0" err="1"/>
              <a:t>وعيوب</a:t>
            </a:r>
            <a:r>
              <a:rPr dirty="0"/>
              <a:t> </a:t>
            </a:r>
            <a:r>
              <a:rPr dirty="0" err="1"/>
              <a:t>نطاق</a:t>
            </a:r>
            <a:r>
              <a:rPr dirty="0"/>
              <a:t> .com</a:t>
            </a:r>
          </a:p>
          <a:p>
            <a:br>
              <a:rPr dirty="0">
                <a:highlight>
                  <a:srgbClr val="000000"/>
                </a:highlight>
              </a:rPr>
            </a:br>
            <a:r>
              <a:rPr dirty="0">
                <a:highlight>
                  <a:srgbClr val="000000"/>
                </a:highlight>
              </a:rPr>
              <a:t>(+) </a:t>
            </a:r>
            <a:r>
              <a:rPr dirty="0" err="1">
                <a:highlight>
                  <a:srgbClr val="000000"/>
                </a:highlight>
              </a:rPr>
              <a:t>سرعة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قصوى</a:t>
            </a:r>
            <a:r>
              <a:rPr dirty="0">
                <a:highlight>
                  <a:srgbClr val="000000"/>
                </a:highlight>
              </a:rPr>
              <a:t>: </a:t>
            </a:r>
            <a:r>
              <a:rPr dirty="0" err="1">
                <a:highlight>
                  <a:srgbClr val="000000"/>
                </a:highlight>
              </a:rPr>
              <a:t>يعمل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فوراً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بعد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الدفع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خلال</a:t>
            </a:r>
            <a:r>
              <a:rPr dirty="0">
                <a:highlight>
                  <a:srgbClr val="000000"/>
                </a:highlight>
              </a:rPr>
              <a:t> 5 </a:t>
            </a:r>
            <a:r>
              <a:rPr dirty="0" err="1">
                <a:highlight>
                  <a:srgbClr val="000000"/>
                </a:highlight>
              </a:rPr>
              <a:t>دقائق</a:t>
            </a:r>
            <a:r>
              <a:rPr dirty="0">
                <a:highlight>
                  <a:srgbClr val="000000"/>
                </a:highlight>
              </a:rPr>
              <a:t>.</a:t>
            </a:r>
            <a:br>
              <a:rPr dirty="0">
                <a:highlight>
                  <a:srgbClr val="000000"/>
                </a:highlight>
              </a:rPr>
            </a:br>
            <a:r>
              <a:rPr dirty="0">
                <a:highlight>
                  <a:srgbClr val="000000"/>
                </a:highlight>
              </a:rPr>
              <a:t>(+) </a:t>
            </a:r>
            <a:r>
              <a:rPr dirty="0" err="1">
                <a:highlight>
                  <a:srgbClr val="000000"/>
                </a:highlight>
              </a:rPr>
              <a:t>وصول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عالمي</a:t>
            </a:r>
            <a:r>
              <a:rPr dirty="0">
                <a:highlight>
                  <a:srgbClr val="000000"/>
                </a:highlight>
              </a:rPr>
              <a:t>: </a:t>
            </a:r>
            <a:r>
              <a:rPr dirty="0" err="1">
                <a:highlight>
                  <a:srgbClr val="000000"/>
                </a:highlight>
              </a:rPr>
              <a:t>سهل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التذكر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لجميع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المقيمين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والمغتربين</a:t>
            </a:r>
            <a:r>
              <a:rPr dirty="0">
                <a:highlight>
                  <a:srgbClr val="000000"/>
                </a:highlight>
              </a:rPr>
              <a:t>.</a:t>
            </a:r>
            <a:br>
              <a:rPr dirty="0">
                <a:highlight>
                  <a:srgbClr val="000000"/>
                </a:highlight>
              </a:rPr>
            </a:br>
            <a:r>
              <a:rPr dirty="0">
                <a:highlight>
                  <a:srgbClr val="000000"/>
                </a:highlight>
              </a:rPr>
              <a:t>(-) </a:t>
            </a:r>
            <a:r>
              <a:rPr dirty="0" err="1">
                <a:highlight>
                  <a:srgbClr val="000000"/>
                </a:highlight>
              </a:rPr>
              <a:t>التحدي</a:t>
            </a:r>
            <a:r>
              <a:rPr dirty="0">
                <a:highlight>
                  <a:srgbClr val="000000"/>
                </a:highlight>
              </a:rPr>
              <a:t>: </a:t>
            </a:r>
            <a:r>
              <a:rPr dirty="0" err="1">
                <a:highlight>
                  <a:srgbClr val="000000"/>
                </a:highlight>
              </a:rPr>
              <a:t>يفتقر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للصفة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السيادية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الرسمية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الممنوحة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حصراً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للبلديات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من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الدولة</a:t>
            </a:r>
            <a:r>
              <a:rPr dirty="0">
                <a:highlight>
                  <a:srgbClr val="000000"/>
                </a:highlight>
              </a:rPr>
              <a:t> </a:t>
            </a:r>
            <a:r>
              <a:rPr dirty="0" err="1">
                <a:highlight>
                  <a:srgbClr val="000000"/>
                </a:highlight>
              </a:rPr>
              <a:t>اللبنانية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بلدية بدنايل | التحول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F2942"/>
                </a:solidFill>
                <a:latin typeface="Arial"/>
              </a:defRPr>
            </a:pPr>
            <a:r>
              <a:t>مقارنة النطاقات والتوصية الاستراتيجية المعتمدة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8 من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وجه المقارنة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النطاق الحكومي (.gov.lb)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النطاق التجاري (.com)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التقييم البلدي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الصفة والمصداقية الرسمية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سيادية ورسمية 100% تابعة للدولة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تجارية عامة متاحة لأي شخص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6F50"/>
                          </a:solidFill>
                          <a:latin typeface="Arial"/>
                        </a:defRPr>
                      </a:pPr>
                      <a:r>
                        <a:t>الأفضلية المطلقة لـ .gov.lb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التكلفة المالية السنوية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مجاني (أو رسم حكومي رمزي جداً)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$10 - $14 سنوياً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6F50"/>
                          </a:solidFill>
                          <a:latin typeface="Arial"/>
                        </a:defRPr>
                      </a:pPr>
                      <a:r>
                        <a:t>كلاهما منخفض جداً واقتصادي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الإجراءات وسرعة التفعيل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تتطلب كتاباً رسمياً (5 - 15 يوماً)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دفع فوري بالبطاقة (خلال 5 دقائق)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6F50"/>
                          </a:solidFill>
                          <a:latin typeface="Arial"/>
                        </a:defRPr>
                      </a:pPr>
                      <a:r>
                        <a:t>الأسرع هو 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حماية الاسم من الانتحال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محمي ومخصص حصراً للمجلس البلدي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قد يشتريه أي شخص إذا لم تحجزه البلدية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6F50"/>
                          </a:solidFill>
                          <a:latin typeface="Arial"/>
                        </a:defRPr>
                      </a:pPr>
                      <a:r>
                        <a:t>حجز كلاهما يضمن الأمان التام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480560"/>
            <a:ext cx="10728655" cy="1691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E6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🎯 التوصية الفنية والاستراتيجية المعتمدة (The Golden Strategy):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1. حجز النطاقين معاً: شراء نطاق bednayelmunicipality.com فوراً لضمان عدم استغلاله وحفظ هوية البلدية عالمياً وتفعيله في غضون دقائق.</a:t>
            </a:r>
            <a:br/>
            <a:r>
              <a:t>2. رفع المعاملة الرسمية بالتوازي لحجز نطاق bednayel.gov.lb عبر وزارة التنمية الإدارية ليكون هو العنوان السيادي الرسمي للبلدية.</a:t>
            </a:r>
            <a:br/>
            <a:r>
              <a:t>3. الربط الذكي والتحويل التلقائي: جعل النطاق .gov.lb هو الأساسي، وبرمجة النطاق .com ليقوم بإعادة تحويل الزائر تلقائياً (301 Redirect) للنطاق الحكومي، مما يحقق التكامل التام والمصداقية المطلقة بأقل من $15 سنوياً!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بلدية بدنايل | التحول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F2942"/>
                </a:solidFill>
                <a:latin typeface="Arial"/>
              </a:defRPr>
            </a:pPr>
            <a:r>
              <a:t>الميزانية الإجمالية التقديرية لتشغيل المنصة سنوياً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9 من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77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البند والمواصفات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التفاصيل والمزود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التكلفة الشهرية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التكلفة السنوية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خادم سحابي VPS (كامل المواصفات)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 vCPU / 4GB RAM / 80GB NVMe (Hetzner أو Hostinger)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$7 - $10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$84 - $120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النطاق الحكومي الرسمي (bednayel.gov.lb)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مكتب وزير الدولة لشؤون التنمية الإدارية (OMSAR)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مجاني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النطاق التجاري (bednayelmunicipality.com)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مسجل معتمد (Namecheap / Cloudflare) مع حماية الهوية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شهادة الأمان والحماية والتسريع (SSL/CDN)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شبكة Cloudflare العالمية (حماية من الهجمات وتشفير)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مجاني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النسخ الاحتياطي التلقائي (Automated Backups)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حفظ نسخة احتياطية مشفرة لقاعدة البيانات والملفات أسبوعياً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$18.00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892040"/>
            <a:ext cx="10728655" cy="128016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4A017"/>
                </a:solidFill>
                <a:latin typeface="Arial"/>
              </a:defRPr>
            </a:pPr>
            <a:r>
              <a:t>📊 إجمالي الميزانية السنوية المتوقعة لتشغيل المنصة بالكامل: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حوالي 114$ إلى 150$ دولار أمريكي سنوياً فقط لا غير (بما يعادل ~10$ إلى 12$ شهرياً)!</a:t>
            </a:r>
          </a:p>
          <a:p>
            <a:pPr algn="ctr">
              <a:defRPr sz="1050">
                <a:solidFill>
                  <a:srgbClr val="CBD5E1"/>
                </a:solidFill>
                <a:latin typeface="Arial"/>
              </a:defRPr>
            </a:pPr>
            <a:r>
              <a:t>تكلفة تشغيلية منخفضة جداً ومجدية بنسبة 100% تؤمن لبلدية بدنايل بنية رقمية حديثة، مستقلة، ومستقرة لسنوات قادمة.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6F50"/>
                </a:solidFill>
                <a:latin typeface="Arial"/>
              </a:defRPr>
            </a:pPr>
            <a:r>
              <a:t>بلدية بدنايل | التحول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F2942"/>
                </a:solidFill>
                <a:latin typeface="Arial"/>
              </a:defRPr>
            </a:pPr>
            <a:r>
              <a:t>خارطة طريق الإطلاق والخطوات التنفيذية القادمة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المشروع الرقمي الرسمي لبلدية بدنايل — الشريحة 10 من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514600" cy="73152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4A017"/>
                </a:solidFill>
                <a:latin typeface="Arial"/>
              </a:defRPr>
            </a:pPr>
            <a:r>
              <a:t>المرحلة الأولى</a:t>
            </a:r>
          </a:p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حجز النطاقات وإعداد الخادم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14600"/>
            <a:ext cx="22951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شراء نطاق bednayelmunicipality.com وتفعيله فوراً.</a:t>
            </a:r>
            <a:br/>
            <a:endParaRPr/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تقديم الكتاب الرسمي إلى OMSAR لحجز نطاق bednayel.gov.lb.</a:t>
            </a:r>
            <a:br/>
            <a:endParaRPr/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إعداد بيئة الخادم السحابي (VPS) وتثبيت Node.js وMySQL.</a:t>
            </a:r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65576" y="169164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65576" y="1691640"/>
            <a:ext cx="2514600" cy="73152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4A017"/>
                </a:solidFill>
                <a:latin typeface="Arial"/>
              </a:defRPr>
            </a:pPr>
            <a:r>
              <a:t>المرحلة الثانية</a:t>
            </a:r>
          </a:p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النشر وربط الأنظمة والأمان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514600"/>
            <a:ext cx="22951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رفع قاعدة البيانات والشيفرة البرمجية للموقع والواجهات.</a:t>
            </a:r>
            <a:br/>
            <a:endParaRPr/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تفعيل شهادة الأمان المشفرة (SSL) وربط Cloudflare للحماية.</a:t>
            </a:r>
            <a:br/>
            <a:endParaRPr/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ضبط نظام إرسال الإشعارات والتحقق من حسابات المواطنين.</a:t>
            </a:r>
            <a:br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169164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691640"/>
            <a:ext cx="2514600" cy="73152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4A017"/>
                </a:solidFill>
                <a:latin typeface="Arial"/>
              </a:defRPr>
            </a:pPr>
            <a:r>
              <a:t>المرحلة الثالثة</a:t>
            </a:r>
          </a:p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تدريب الكادر البلدي والإطلاق التجريبي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22951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تدريب موظفي البلدية على لوحة التحكم وإدارة الشكاوى والمواعيد.</a:t>
            </a:r>
            <a:br/>
            <a:endParaRPr/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إدخال البيانات والمعلومات الرسمية المحدثة للبلدة والدليل المحلي.</a:t>
            </a:r>
            <a:br/>
            <a:endParaRPr/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إجراء اختبارات تجريبية شاملة لجميع المعاملات قبل الفتح العام.</a:t>
            </a:r>
            <a:br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33688" y="169164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33688" y="1691640"/>
            <a:ext cx="2514600" cy="731520"/>
          </a:xfrm>
          <a:prstGeom prst="rect">
            <a:avLst/>
          </a:prstGeom>
          <a:solidFill>
            <a:srgbClr val="1E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4A017"/>
                </a:solidFill>
                <a:latin typeface="Arial"/>
              </a:defRPr>
            </a:pPr>
            <a:r>
              <a:t>المرحلة الرابعة</a:t>
            </a:r>
          </a:p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الإطلاق الرسمي وحملة التوعية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514600"/>
            <a:ext cx="22951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الإعلان الرسمي عن إطلاق المنصة لأهالي بدنايل والمغتربين.</a:t>
            </a:r>
            <a:br/>
            <a:endParaRPr/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نشر روابط وفيديوهات توضيحية عبر وسائل التواصل واليافطات في البلدة.</a:t>
            </a:r>
            <a:br/>
            <a:endParaRPr/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• البدء في استقبال واستلام معاملات وخدمات المواطنين إلكترونياً.</a:t>
            </a:r>
            <a:br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10728655" cy="100584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بلدية بدنايل نحو مستقبل رقمي واعد يخدم المجتمع ويرتقي بالبلدة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شكراً لحسن استماعكم واهتمامكم — مستعدون للرد على كافة الاستفسارات والملاحظات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2152</Words>
  <Application>Microsoft Office PowerPoint</Application>
  <PresentationFormat>Widescreen</PresentationFormat>
  <Paragraphs>195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haj sleiman</cp:lastModifiedBy>
  <cp:revision>2</cp:revision>
  <dcterms:created xsi:type="dcterms:W3CDTF">2013-01-27T09:14:16Z</dcterms:created>
  <dcterms:modified xsi:type="dcterms:W3CDTF">2026-10-15T17:50:14Z</dcterms:modified>
  <cp:category/>
</cp:coreProperties>
</file>